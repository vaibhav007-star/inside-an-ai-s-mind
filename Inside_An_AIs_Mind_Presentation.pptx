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CIA III-B MINI PROJECT • GRAPH THEORY IN MY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Inside an AI's Mind: When Knowledge Becomes a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TEAM OF 2 • 10-MINUTE ORAL DEFENSE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0:30 (Elapsed 0:30)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Creative Artifact Domain: </a:t>
            </a:r>
            <a:r>
              <a:rPr sz="1150">
                <a:solidFill>
                  <a:srgbClr val="CBD5E1"/>
                </a:solidFill>
                <a:latin typeface="Segoe UI"/>
              </a:rPr>
              <a:t>Artificial Intelligence modelled as an explicit knowledge graph.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Graph Theory is the Hero: </a:t>
            </a:r>
            <a:r>
              <a:rPr sz="1150">
                <a:solidFill>
                  <a:srgbClr val="CBD5E1"/>
                </a:solidFill>
                <a:latin typeface="Segoe UI"/>
              </a:rPr>
              <a:t>We show how discrete mathematics — vertices, edges, degrees, paths, cycles, and connectivity — reveals structure inside an AI's mind.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Discrete Graph Model: </a:t>
            </a:r>
            <a:r>
              <a:rPr sz="1150">
                <a:solidFill>
                  <a:srgbClr val="CBD5E1"/>
                </a:solidFill>
                <a:latin typeface="Segoe UI"/>
              </a:rPr>
              <a:t>A simple, undirected graph G = (V, E) with |V| = 28 vertices and |E| = 39 edges.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Strict Academic Discipline: </a:t>
            </a:r>
            <a:r>
              <a:rPr sz="1150">
                <a:solidFill>
                  <a:srgbClr val="CBD5E1"/>
                </a:solidFill>
                <a:latin typeface="Segoe UI"/>
              </a:rPr>
              <a:t>No actual ML models simulated, no future commercialization claims, pure computed graph theory.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59E0B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“Graph Theory is the hero; Artificial Intelligence is only our creative world.”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d_uni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1: Interactive 3D Three.js Knowledge Graph Universe with OrbitControls &amp; CSS2D Billboards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PROBLEM FORMULATION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Why AI is Our Personal 'World' &amp; Mathematical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SPEAKER A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0:45 (Elapsed 1:15)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Demystifying the 'Black Box': </a:t>
            </a:r>
            <a:r>
              <a:rPr sz="1150">
                <a:solidFill>
                  <a:srgbClr val="CBD5E1"/>
                </a:solidFill>
                <a:latin typeface="Segoe UI"/>
              </a:rPr>
              <a:t>AI is commonly treated as opaque matrices of numbers. Graph theory offers structural interpretability and conceptual clarity.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Relational Graph Metaphor: </a:t>
            </a:r>
            <a:r>
              <a:rPr sz="1150">
                <a:solidFill>
                  <a:srgbClr val="CBD5E1"/>
                </a:solidFill>
                <a:latin typeface="Segoe UI"/>
              </a:rPr>
              <a:t>Knowledge concepts become vertices; informational dependencies become undirected edges.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Mathematical Constraints: </a:t>
            </a:r>
            <a:r>
              <a:rPr sz="1150">
                <a:solidFill>
                  <a:srgbClr val="CBD5E1"/>
                </a:solidFill>
                <a:latin typeface="Segoe UI"/>
              </a:rPr>
              <a:t>Simple graph (no self-loops, no parallel/multi-edges). Undirected edges represent bidirectional conceptual access.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Discrete Rigor: </a:t>
            </a:r>
            <a:r>
              <a:rPr sz="1150">
                <a:solidFill>
                  <a:srgbClr val="CBD5E1"/>
                </a:solidFill>
                <a:latin typeface="Segoe UI"/>
              </a:rPr>
              <a:t>Every theorem, degree count, path length, and component number is strictly computed from verified ground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Graph Theory transforms an opaque black box into an explainable, structured relational universe.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2: 2D Analytics Dashboard with live Discrete Math KPI Strip (|V|=28, |E|=39, Σdeg=78, c=2)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GRAPH TOPOLOGY &amp; FORMAL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Transforming Knowledge into a Graph: G = (V, 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SPEAKER A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1:00 (Elapsed 2:15)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Order &amp; Size of Graph G: </a:t>
            </a:r>
            <a:r>
              <a:rPr sz="1150">
                <a:solidFill>
                  <a:srgbClr val="CBD5E1"/>
                </a:solidFill>
                <a:latin typeface="Segoe UI"/>
              </a:rPr>
              <a:t>|V| = 28 vertices, |E| = 39 edges across 6 distinct semantic domains.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Six Domain Clusters: </a:t>
            </a:r>
            <a:r>
              <a:rPr sz="1150">
                <a:solidFill>
                  <a:srgbClr val="CBD5E1"/>
                </a:solidFill>
                <a:latin typeface="Segoe UI"/>
              </a:rPr>
              <a:t>Core AI (1), Learning &amp; Data (11), Vision (4), NLP (6), Reasoning (3), Specialized Chess (3).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Two Connected Components: </a:t>
            </a:r>
            <a:r>
              <a:rPr sz="1150">
                <a:solidFill>
                  <a:srgbClr val="CBD5E1"/>
                </a:solidFill>
                <a:latin typeface="Segoe UI"/>
              </a:rPr>
              <a:t>Main Knowledge Network K1 (25 vertices, 37 edges) and Specialized Cluster K2 (3 vertices, 2 edges).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Specialized Disconnection: </a:t>
            </a:r>
            <a:r>
              <a:rPr sz="1150">
                <a:solidFill>
                  <a:srgbClr val="CBD5E1"/>
                </a:solidFill>
                <a:latin typeface="Segoe UI"/>
              </a:rPr>
              <a:t>The chess rules cluster (chessrules ━ gametree ━ strategy) has zero paths to the main network, proving c = 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G consists of 2 components: a cohesive main mind (K1) and an isolated specialist cluster (K2).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3: Topological map of G = (V, E) showing the 25-node main mind and 3-node chess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RELATIONAL ONTOLOGY &amp; BIDIRECTIONALITY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Vertices, Edges, and Bidirectional Relational Semantics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SPEAKER A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0:45 (Elapsed 3:00)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Vertex Definition: </a:t>
            </a:r>
            <a:r>
              <a:rPr sz="1150">
                <a:solidFill>
                  <a:srgbClr val="CBD5E1"/>
                </a:solidFill>
                <a:latin typeface="Segoe UI"/>
              </a:rPr>
              <a:t>Each vertex v in V encapsulates a discrete knowledge concept with an exact &lt;= 10 word meaning.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Edge Definition: </a:t>
            </a:r>
            <a:r>
              <a:rPr sz="1150">
                <a:solidFill>
                  <a:srgbClr val="CBD5E1"/>
                </a:solidFill>
                <a:latin typeface="Segoe UI"/>
              </a:rPr>
              <a:t>An edge e = {u, v} represents an undirected mutual relationship. Conceptual queries operate both ways.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Case Study (E13: Training ━ Model): </a:t>
            </a:r>
            <a:r>
              <a:rPr sz="1150">
                <a:solidFill>
                  <a:srgbClr val="CBD5E1"/>
                </a:solidFill>
                <a:latin typeface="Segoe UI"/>
              </a:rPr>
              <a:t>Training shapes and parameters the Model; the Model architecture conversely defines training requirements.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Incidence &amp; Adjacency: </a:t>
            </a:r>
            <a:r>
              <a:rPr sz="1150">
                <a:solidFill>
                  <a:srgbClr val="CBD5E1"/>
                </a:solidFill>
                <a:latin typeface="Segoe UI"/>
              </a:rPr>
              <a:t>The vertex 'training' has degree 4, incident to edges connecting it to 'ml', 'nn', 'model', and 'data'.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Knowledge is inherently bidirectional: learning adapts models, and models guide future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theory_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4: Interactive Graph Theory Concept Cards Drawer explaining Vertex and Edge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FUNDAMENTAL THEOREM &amp; DEGREE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Vertex Degree &amp; The Handshaking 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SPEAKER A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0:45 (Elapsed 3:45)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Degree Definition: </a:t>
            </a:r>
            <a:r>
              <a:rPr sz="1150">
                <a:solidFill>
                  <a:srgbClr val="CBD5E1"/>
                </a:solidFill>
                <a:latin typeface="Segoe UI"/>
              </a:rPr>
              <a:t>deg(v) equals the number of incident edges. deg(v) = |{u in V : {u, v} in E}|.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Euler's Handshaking Lemma: </a:t>
            </a:r>
            <a:r>
              <a:rPr sz="1150">
                <a:solidFill>
                  <a:srgbClr val="CBD5E1"/>
                </a:solidFill>
                <a:latin typeface="Segoe UI"/>
              </a:rPr>
              <a:t>Sum of all degrees = 2|E|. For G: 2 * 39 = 78. (K1 sum = 74 = 2*37; K2 sum = 4 = 2*2).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Surprising Architectural Finding: </a:t>
            </a:r>
            <a:r>
              <a:rPr sz="1150">
                <a:solidFill>
                  <a:srgbClr val="CBD5E1"/>
                </a:solidFill>
                <a:latin typeface="Segoe UI"/>
              </a:rPr>
              <a:t>'Data' is the unique maximal degree hub (deg = 7), NOT 'AI' (deg = 5).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Degree Sequence of K1: </a:t>
            </a:r>
            <a:r>
              <a:rPr sz="1150">
                <a:solidFill>
                  <a:srgbClr val="CBD5E1"/>
                </a:solidFill>
                <a:latin typeface="Segoe UI"/>
              </a:rPr>
              <a:t>[7, 5, 5, 5, 4, 4, 4, 3, 3, 3, 3, 3, 2, 2, 2, 2, 2, 2, 2, 2, 2, 2, 2, 2, 1]. All 28 degrees verified.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Discrete Math proves the AI's mind is fundamentally data-driven, not executive-driven.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deg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5: Ranked degree distribution verifying Data as maximal hub (deg 7) and Handshaking sum = 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CONNECTIVITY &amp; REASONING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Paths, Trails, and Reasoning Chains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SPEAKER B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1:00 (Elapsed 4:45)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Walk vs Trail vs Path: </a:t>
            </a:r>
            <a:r>
              <a:rPr sz="1150">
                <a:solidFill>
                  <a:srgbClr val="CBD5E1"/>
                </a:solidFill>
                <a:latin typeface="Segoe UI"/>
              </a:rPr>
              <a:t>A Walk allows repeats; a Trail forbids repeated edges; a Path forbids repeated vertices.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Path P1 (Inference Pipeline): </a:t>
            </a:r>
            <a:r>
              <a:rPr sz="1150">
                <a:solidFill>
                  <a:srgbClr val="CBD5E1"/>
                </a:solidFill>
                <a:latin typeface="Segoe UI"/>
              </a:rPr>
              <a:t>Data -&gt; Training -&gt; Model -&gt; Prediction (length 3 edges, 4 distinct vertices).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Path P2 (NLP Semantic Grounding): </a:t>
            </a:r>
            <a:r>
              <a:rPr sz="1150">
                <a:solidFill>
                  <a:srgbClr val="CBD5E1"/>
                </a:solidFill>
                <a:latin typeface="Segoe UI"/>
              </a:rPr>
              <a:t>Words -&gt; Meaning -&gt; Context -&gt; Knowledge (length 3 edges, 4 distinct vertices).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Shortest Path (P3): </a:t>
            </a:r>
            <a:r>
              <a:rPr sz="1150">
                <a:solidFill>
                  <a:srgbClr val="CBD5E1"/>
                </a:solidFill>
                <a:latin typeface="Segoe UI"/>
              </a:rPr>
              <a:t>Dataset -&gt; Data -&gt; AI -&gt; Knowledge -&gt; Decision (length 4 edges). Dataset -&gt; Strategy has NO path (null).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43F5E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Logical inference in an AI corresponds strictly to simple paths between conceptual vertices.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path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6: Path P1 highlighted in brilliant emerald across the 3D neural topography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CYCLIC TOPOLOGY &amp; LEARNING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Cycles &amp; Feedback Loops in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SPEAKER B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0:45 (Elapsed 5:30)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Cycle Definition: </a:t>
            </a:r>
            <a:r>
              <a:rPr sz="1150">
                <a:solidFill>
                  <a:srgbClr val="CBD5E1"/>
                </a:solidFill>
                <a:latin typeface="Segoe UI"/>
              </a:rPr>
              <a:t>A closed walk of length &gt;= 3 where start = end, with no repeated intermediate vertices or edges.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Primary Learning Cycle C1 (Length 5): </a:t>
            </a:r>
            <a:r>
              <a:rPr sz="1150">
                <a:solidFill>
                  <a:srgbClr val="CBD5E1"/>
                </a:solidFill>
                <a:latin typeface="Segoe UI"/>
              </a:rPr>
              <a:t>ML -&gt; Model -&gt; Prediction -&gt; Feedback -&gt; Data -&gt; ML. Models supervised retraining.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Structural Triangles (K3 Cliques): </a:t>
            </a:r>
            <a:r>
              <a:rPr sz="1150">
                <a:solidFill>
                  <a:srgbClr val="CBD5E1"/>
                </a:solidFill>
                <a:latin typeface="Segoe UI"/>
              </a:rPr>
              <a:t>C2: ML -&gt; Training -&gt; Model -&gt; ML. C3: Language -&gt; Words -&gt; Text -&gt; Language.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Acyclic Trees vs Cyclic Minds: </a:t>
            </a:r>
            <a:r>
              <a:rPr sz="1150">
                <a:solidFill>
                  <a:srgbClr val="CBD5E1"/>
                </a:solidFill>
                <a:latin typeface="Segoe UI"/>
              </a:rPr>
              <a:t>If knowledge were an acyclic tree, an AI could never learn from feedback. Cycles are vital.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43F5E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Without cycles, an AI cannot learn from mistakes: feedback loops require cyclic graph topology.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cycle_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7: Cycle C1 feedback loop illuminated in vivid cyan, tracing model adaptation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SUBGRAPH THEORY &amp; MODULAR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Subgraphs vs. Connected Components: Domain Clusters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SPEAKER B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0:45 (Elapsed 6:15)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Subgraph Definition: </a:t>
            </a:r>
            <a:r>
              <a:rPr sz="1150">
                <a:solidFill>
                  <a:srgbClr val="CBD5E1"/>
                </a:solidFill>
                <a:latin typeface="Segoe UI"/>
              </a:rPr>
              <a:t>H = (V_H, E_H) where V_H subset of V and E_H subset of E. An induced subgraph preserves all mutual edges.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Common Misconception Debunked: </a:t>
            </a:r>
            <a:r>
              <a:rPr sz="1150">
                <a:solidFill>
                  <a:srgbClr val="CBD5E1"/>
                </a:solidFill>
                <a:latin typeface="Segoe UI"/>
              </a:rPr>
              <a:t>Domain modules (Vision, NLP, Learning) are subgraphs, NOT components, because boundary edges tie them to G.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Featured Subgraphs: </a:t>
            </a:r>
            <a:r>
              <a:rPr sz="1150">
                <a:solidFill>
                  <a:srgbClr val="CBD5E1"/>
                </a:solidFill>
                <a:latin typeface="Segoe UI"/>
              </a:rPr>
              <a:t>S1 Learning (11 nodes, 16 edges, 5 boundary edges); S2 Vision (4 nodes, 3 edges, 3 boundary edges).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Vision Boundary Edges: </a:t>
            </a:r>
            <a:r>
              <a:rPr sz="1150">
                <a:solidFill>
                  <a:srgbClr val="CBD5E1"/>
                </a:solidFill>
                <a:latin typeface="Segoe UI"/>
              </a:rPr>
              <a:t>E2 (AI ━ CV), E25 (Recognition ━ Knowledge), and E26 (Image ━ Data) integrate seeing with thinking.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43F5E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Specialised domains are modular subgraphs anchored to the main core by explicit boundary edges.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subgraph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8: Computer Vision Subgraph S2 highlighted in rose with gold boundary edge 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RESILIENCE, BOTTLENECKS &amp;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Connectedness, Cut Vertices &amp; Bridges: System Vulnerabilities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SPEAKER B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1:00 (Elapsed 7:15)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Connected Component: </a:t>
            </a:r>
            <a:r>
              <a:rPr sz="1150">
                <a:solidFill>
                  <a:srgbClr val="CBD5E1"/>
                </a:solidFill>
                <a:latin typeface="Segoe UI"/>
              </a:rPr>
              <a:t>A maximal connected subgraph. Whole graph G has exactly 2 components (c = 2).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Cut Vertex Discovery: </a:t>
            </a:r>
            <a:r>
              <a:rPr sz="1150">
                <a:solidFill>
                  <a:srgbClr val="CBD5E1"/>
                </a:solidFill>
                <a:latin typeface="Segoe UI"/>
              </a:rPr>
              <a:t>'Data' is a Cut Vertex: removing 'Data' increases components from 2 to 3, stranding 'Dataset' as an isolated node!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Is 'AI' a Cut Vertex?: </a:t>
            </a:r>
            <a:r>
              <a:rPr sz="1150">
                <a:solidFill>
                  <a:srgbClr val="CBD5E1"/>
                </a:solidFill>
                <a:latin typeface="Segoe UI"/>
              </a:rPr>
              <a:t>NO! Removing 'AI' leaves K1 connected (c remains 2) due to alternate redundant circuits.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43F5E"/>
                </a:solidFill>
                <a:latin typeface="Segoe UI"/>
              </a:rPr>
              <a:t>•  Bridge Edge E18: </a:t>
            </a:r>
            <a:r>
              <a:rPr sz="1150">
                <a:solidFill>
                  <a:srgbClr val="CBD5E1"/>
                </a:solidFill>
                <a:latin typeface="Segoe UI"/>
              </a:rPr>
              <a:t>Edge E18 (Data ━ Dataset) is a Bridge: removing E18 instantly increases components from 2 to 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43F5E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Data is the single point of catastrophic failure; the AI hub itself has resilient redundant circuits.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component_remove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9: Component fragmentation demonstration: removing Data increases component count from 2 to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EVALUATION, REFLECTION &amp; CRITICAL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Critical Thinking, Limitations &amp;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SPEAKER A &amp; B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0:45 (Elapsed 8:00)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What Graph Theory Exposes: </a:t>
            </a:r>
            <a:r>
              <a:rPr sz="1150">
                <a:solidFill>
                  <a:srgbClr val="CBD5E1"/>
                </a:solidFill>
                <a:latin typeface="Segoe UI"/>
              </a:rPr>
              <a:t>Uncovers architectural vulnerabilities (cut vertices) and reasoning pathways that matrix weights conceal.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Model Limitations Acknowledged: </a:t>
            </a:r>
            <a:r>
              <a:rPr sz="1150">
                <a:solidFill>
                  <a:srgbClr val="CBD5E1"/>
                </a:solidFill>
                <a:latin typeface="Segoe UI"/>
              </a:rPr>
              <a:t>Static topology (real neural embeddings adapt dynamically); unweighted edges (treats all bonds equally).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Bidirectional Simplification: </a:t>
            </a:r>
            <a:r>
              <a:rPr sz="1150">
                <a:solidFill>
                  <a:srgbClr val="CBD5E1"/>
                </a:solidFill>
                <a:latin typeface="Segoe UI"/>
              </a:rPr>
              <a:t>Undirected edges represent associative access, though causality in deep networks is often directional.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Academic Conclusion: </a:t>
            </a:r>
            <a:r>
              <a:rPr sz="1150">
                <a:solidFill>
                  <a:srgbClr val="CBD5E1"/>
                </a:solidFill>
                <a:latin typeface="Segoe UI"/>
              </a:rPr>
              <a:t>Discrete graph theory is a legitimate, rigorous, and intuitive framework for explainable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59E0B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Discrete graph theory provides an elegant formal bridge between human reasoning and artificial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_analysis_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10: Observations &amp; Critical Thinking Drawer evaluating model strengths and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CONCLUSION &amp; VIVA VOCE EXAMINATION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Summary, Interactive System &amp; Viva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457200"/>
            <a:ext cx="2651760" cy="59436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SPEAKER A &amp; B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1:00 (Total 09:00 + 1:00 Buffer)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85216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Summary of Verified Metrics: </a:t>
            </a:r>
            <a:r>
              <a:rPr sz="1150">
                <a:solidFill>
                  <a:srgbClr val="CBD5E1"/>
                </a:solidFill>
                <a:latin typeface="Segoe UI"/>
              </a:rPr>
              <a:t>|V|=28, |E|=39, Components c=2, Handshaking Σdeg=78, Max Hub: Data (7), Cut Vertex: Data, Bridge: E18.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Live Interactive Suite: </a:t>
            </a:r>
            <a:r>
              <a:rPr sz="1150">
                <a:solidFill>
                  <a:srgbClr val="CBD5E1"/>
                </a:solidFill>
                <a:latin typeface="Segoe UI"/>
              </a:rPr>
              <a:t>3D Three.js Universe + 2D Vector Analytics Dashboard + AI Mind Lab (4 Missions &amp; Glitch Simulation).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Examiner Rapid Demo Ready: </a:t>
            </a:r>
            <a:r>
              <a:rPr sz="1150">
                <a:solidFill>
                  <a:srgbClr val="CBD5E1"/>
                </a:solidFill>
                <a:latin typeface="Segoe UI"/>
              </a:rPr>
              <a:t>Examiner mode preloaded with one-click viva demonstrations for instant proof of all theorems.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 Thank You! </a:t>
            </a:r>
            <a:r>
              <a:rPr sz="1150">
                <a:solidFill>
                  <a:srgbClr val="CBD5E1"/>
                </a:solidFill>
                <a:latin typeface="Segoe UI"/>
              </a:rPr>
              <a:t>We welcome questions from the examiners and faculty on any aspect of the graph topology!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5486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59E0B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All 31 discrete mathematics assertions verified 100%. Live interactive demo ready for examination.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663440" cy="466344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sentation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3891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/>
              </a:defRPr>
            </a:pPr>
            <a:r>
              <a:t>Figure 11: Slide-driven interactive presentation HUD with synchronized live graph animations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 conceptual graph model used to demonstrate how Graph Theory can represent relationships between knowledge concepts. It is not how a real AI stores knowledge internally.  |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