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F59E0B"/>
                </a:solidFill>
                <a:latin typeface="Segoe UI"/>
              </a:defRPr>
            </a:pPr>
            <a:r>
              <a:t>CIA III-B MINI PROJECT • GRAPH THEORY IN MY WORLD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Segoe UI"/>
              </a:defRPr>
            </a:pPr>
            <a:r>
              <a:t>Inside an AI's Mind: When Knowledge Becomes a Graph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778240" y="457200"/>
            <a:ext cx="2651760" cy="594360"/>
          </a:xfrm>
          <a:prstGeom prst="roundRect">
            <a:avLst/>
          </a:prstGeom>
          <a:solidFill>
            <a:srgbClr val="161D2F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59E0B"/>
                </a:solidFill>
                <a:latin typeface="Segoe UI"/>
              </a:defRPr>
            </a:pPr>
            <a:r>
              <a:t>TEAM OF 2 • 10-MINUTE ORAL DEFENSE</a:t>
            </a:r>
          </a:p>
          <a:p>
            <a:pPr algn="ctr">
              <a:defRPr sz="950">
                <a:solidFill>
                  <a:srgbClr val="94A3B8"/>
                </a:solidFill>
                <a:latin typeface="Segoe UI"/>
              </a:defRPr>
            </a:pPr>
            <a:r>
              <a:t>0:30 (Elapsed 0:30)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852160" cy="4663440"/>
          </a:xfrm>
          <a:prstGeom prst="roundRect">
            <a:avLst/>
          </a:prstGeom>
          <a:solidFill>
            <a:srgbClr val="161D2F"/>
          </a:solidFill>
          <a:ln w="12700">
            <a:solidFill>
              <a:srgbClr val="2D3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00200"/>
            <a:ext cx="54864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200" b="1">
                <a:solidFill>
                  <a:srgbClr val="F59E0B"/>
                </a:solidFill>
                <a:latin typeface="Segoe UI"/>
              </a:rPr>
              <a:t>•  Creative Artifact Domain: </a:t>
            </a:r>
            <a:r>
              <a:rPr sz="1150">
                <a:solidFill>
                  <a:srgbClr val="CBD5E1"/>
                </a:solidFill>
                <a:latin typeface="Segoe UI"/>
              </a:rPr>
              <a:t>Artificial Intelligence modelled as an explicit knowledge graph.</a:t>
            </a:r>
          </a:p>
          <a:p>
            <a:pPr>
              <a:spcAft>
                <a:spcPts val="1000"/>
              </a:spcAft>
            </a:pPr>
            <a:r>
              <a:rPr sz="1200" b="1">
                <a:solidFill>
                  <a:srgbClr val="F59E0B"/>
                </a:solidFill>
                <a:latin typeface="Segoe UI"/>
              </a:rPr>
              <a:t>•  Graph Theory is the Hero: </a:t>
            </a:r>
            <a:r>
              <a:rPr sz="1150">
                <a:solidFill>
                  <a:srgbClr val="CBD5E1"/>
                </a:solidFill>
                <a:latin typeface="Segoe UI"/>
              </a:rPr>
              <a:t>We show how discrete mathematics — vertices, edges, degrees, paths, cycles, and connectivity — reveals structure inside an AI's mind.</a:t>
            </a:r>
          </a:p>
          <a:p>
            <a:pPr>
              <a:spcAft>
                <a:spcPts val="1000"/>
              </a:spcAft>
            </a:pPr>
            <a:r>
              <a:rPr sz="1200" b="1">
                <a:solidFill>
                  <a:srgbClr val="F59E0B"/>
                </a:solidFill>
                <a:latin typeface="Segoe UI"/>
              </a:rPr>
              <a:t>•  Discrete Graph Model: </a:t>
            </a:r>
            <a:r>
              <a:rPr sz="1150">
                <a:solidFill>
                  <a:srgbClr val="CBD5E1"/>
                </a:solidFill>
                <a:latin typeface="Segoe UI"/>
              </a:rPr>
              <a:t>A simple, undirected graph G = (V, E) with |V| = 28 vertices and |E| = 39 edges.</a:t>
            </a:r>
          </a:p>
          <a:p>
            <a:pPr>
              <a:spcAft>
                <a:spcPts val="1000"/>
              </a:spcAft>
            </a:pPr>
            <a:r>
              <a:rPr sz="1200" b="1">
                <a:solidFill>
                  <a:srgbClr val="F59E0B"/>
                </a:solidFill>
                <a:latin typeface="Segoe UI"/>
              </a:rPr>
              <a:t>•  Strict Academic Discipline: </a:t>
            </a:r>
            <a:r>
              <a:rPr sz="1150">
                <a:solidFill>
                  <a:srgbClr val="CBD5E1"/>
                </a:solidFill>
                <a:latin typeface="Segoe UI"/>
              </a:rPr>
              <a:t>No actual ML models simulated, no future commercialization claims, pure computed graph theory.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5166360"/>
            <a:ext cx="5486400" cy="77724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50" b="1">
                <a:solidFill>
                  <a:srgbClr val="F59E0B"/>
                </a:solidFill>
                <a:latin typeface="Segoe UI"/>
              </a:defRPr>
            </a:pPr>
            <a:r>
              <a:t>KEY TAKEAWAY</a:t>
            </a:r>
          </a:p>
          <a:p>
            <a:pPr>
              <a:defRPr sz="1050" b="1">
                <a:solidFill>
                  <a:srgbClr val="F8FAFC"/>
                </a:solidFill>
                <a:latin typeface="Segoe UI"/>
              </a:defRPr>
            </a:pPr>
            <a:r>
              <a:t>“Graph Theory is the hero; Artificial Intelligence is only our creative world.”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0" y="1463040"/>
            <a:ext cx="4663440" cy="4663440"/>
          </a:xfrm>
          <a:prstGeom prst="roundRect">
            <a:avLst/>
          </a:prstGeom>
          <a:solidFill>
            <a:srgbClr val="161D2F"/>
          </a:solidFill>
          <a:ln w="12700">
            <a:solidFill>
              <a:srgbClr val="2D3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3d_univer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600200"/>
            <a:ext cx="4389120" cy="34747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903720" y="5212080"/>
            <a:ext cx="4389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i="1">
                <a:solidFill>
                  <a:srgbClr val="94A3B8"/>
                </a:solidFill>
                <a:latin typeface="Segoe UI"/>
              </a:defRPr>
            </a:pPr>
            <a:r>
              <a:t>Figure 1: Interactive 3D Three.js Knowledge Graph Universe with OrbitControls &amp; CSS2D Billboards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 conceptual graph model used to demonstrate how Graph Theory can represent relationships between knowledge concepts. It is not how a real AI stores knowledge internally.  |  Slide 1 of 16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10B981"/>
                </a:solidFill>
                <a:latin typeface="Segoe UI"/>
              </a:defRPr>
            </a:pPr>
            <a:r>
              <a:t>PROBLEM FORMULATION &amp;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Segoe UI"/>
              </a:defRPr>
            </a:pPr>
            <a:r>
              <a:t>Why AI is Our Personal 'World' &amp; Mathematical Scope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778240" y="457200"/>
            <a:ext cx="2651760" cy="594360"/>
          </a:xfrm>
          <a:prstGeom prst="roundRect">
            <a:avLst/>
          </a:prstGeom>
          <a:solidFill>
            <a:srgbClr val="161D2F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0B981"/>
                </a:solidFill>
                <a:latin typeface="Segoe UI"/>
              </a:defRPr>
            </a:pPr>
            <a:r>
              <a:t>SPEAKER A</a:t>
            </a:r>
          </a:p>
          <a:p>
            <a:pPr algn="ctr">
              <a:defRPr sz="950">
                <a:solidFill>
                  <a:srgbClr val="94A3B8"/>
                </a:solidFill>
                <a:latin typeface="Segoe UI"/>
              </a:defRPr>
            </a:pPr>
            <a:r>
              <a:t>0:45 (Elapsed 1:15)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852160" cy="4663440"/>
          </a:xfrm>
          <a:prstGeom prst="roundRect">
            <a:avLst/>
          </a:prstGeom>
          <a:solidFill>
            <a:srgbClr val="161D2F"/>
          </a:solidFill>
          <a:ln w="12700">
            <a:solidFill>
              <a:srgbClr val="2D3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00200"/>
            <a:ext cx="54864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200" b="1">
                <a:solidFill>
                  <a:srgbClr val="10B981"/>
                </a:solidFill>
                <a:latin typeface="Segoe UI"/>
              </a:rPr>
              <a:t>•  Demystifying the 'Black Box': </a:t>
            </a:r>
            <a:r>
              <a:rPr sz="1150">
                <a:solidFill>
                  <a:srgbClr val="CBD5E1"/>
                </a:solidFill>
                <a:latin typeface="Segoe UI"/>
              </a:rPr>
              <a:t>AI is commonly treated as opaque matrices of numbers. Graph theory offers structural interpretability and conceptual clarity.</a:t>
            </a:r>
          </a:p>
          <a:p>
            <a:pPr>
              <a:spcAft>
                <a:spcPts val="1000"/>
              </a:spcAft>
            </a:pPr>
            <a:r>
              <a:rPr sz="1200" b="1">
                <a:solidFill>
                  <a:srgbClr val="10B981"/>
                </a:solidFill>
                <a:latin typeface="Segoe UI"/>
              </a:rPr>
              <a:t>•  Relational Graph Metaphor: </a:t>
            </a:r>
            <a:r>
              <a:rPr sz="1150">
                <a:solidFill>
                  <a:srgbClr val="CBD5E1"/>
                </a:solidFill>
                <a:latin typeface="Segoe UI"/>
              </a:rPr>
              <a:t>Knowledge concepts become vertices; informational dependencies become undirected edges.</a:t>
            </a:r>
          </a:p>
          <a:p>
            <a:pPr>
              <a:spcAft>
                <a:spcPts val="1000"/>
              </a:spcAft>
            </a:pPr>
            <a:r>
              <a:rPr sz="1200" b="1">
                <a:solidFill>
                  <a:srgbClr val="10B981"/>
                </a:solidFill>
                <a:latin typeface="Segoe UI"/>
              </a:rPr>
              <a:t>•  Mathematical Constraints: </a:t>
            </a:r>
            <a:r>
              <a:rPr sz="1150">
                <a:solidFill>
                  <a:srgbClr val="CBD5E1"/>
                </a:solidFill>
                <a:latin typeface="Segoe UI"/>
              </a:rPr>
              <a:t>Simple graph (no self-loops, no parallel/multi-edges). Undirected edges represent bidirectional conceptual access.</a:t>
            </a:r>
          </a:p>
          <a:p>
            <a:pPr>
              <a:spcAft>
                <a:spcPts val="1000"/>
              </a:spcAft>
            </a:pPr>
            <a:r>
              <a:rPr sz="1200" b="1">
                <a:solidFill>
                  <a:srgbClr val="10B981"/>
                </a:solidFill>
                <a:latin typeface="Segoe UI"/>
              </a:rPr>
              <a:t>•  Discrete Rigor: </a:t>
            </a:r>
            <a:r>
              <a:rPr sz="1150">
                <a:solidFill>
                  <a:srgbClr val="CBD5E1"/>
                </a:solidFill>
                <a:latin typeface="Segoe UI"/>
              </a:rPr>
              <a:t>Every theorem, degree count, path length, and component number is strictly computed from verified ground truth.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5166360"/>
            <a:ext cx="5486400" cy="77724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50" b="1">
                <a:solidFill>
                  <a:srgbClr val="10B981"/>
                </a:solidFill>
                <a:latin typeface="Segoe UI"/>
              </a:defRPr>
            </a:pPr>
            <a:r>
              <a:t>KEY TAKEAWAY</a:t>
            </a:r>
          </a:p>
          <a:p>
            <a:pPr>
              <a:defRPr sz="1050" b="1">
                <a:solidFill>
                  <a:srgbClr val="F8FAFC"/>
                </a:solidFill>
                <a:latin typeface="Segoe UI"/>
              </a:defRPr>
            </a:pPr>
            <a:r>
              <a:t>Graph Theory transforms an opaque black box into an explainable, structured relational universe.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0" y="1463040"/>
            <a:ext cx="4663440" cy="4663440"/>
          </a:xfrm>
          <a:prstGeom prst="roundRect">
            <a:avLst/>
          </a:prstGeom>
          <a:solidFill>
            <a:srgbClr val="161D2F"/>
          </a:solidFill>
          <a:ln w="12700">
            <a:solidFill>
              <a:srgbClr val="2D3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2d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600200"/>
            <a:ext cx="4389120" cy="34747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903720" y="5212080"/>
            <a:ext cx="4389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i="1">
                <a:solidFill>
                  <a:srgbClr val="94A3B8"/>
                </a:solidFill>
                <a:latin typeface="Segoe UI"/>
              </a:defRPr>
            </a:pPr>
            <a:r>
              <a:t>Figure 2: 2D Analytics Dashboard with live Discrete Math KPI Strip (|V|=28, |E|=39, Σdeg=78, c=2)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 conceptual graph model used to demonstrate how Graph Theory can represent relationships between knowledge concepts. It is not how a real AI stores knowledge internally.  |  Slide 2 of 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10B981"/>
                </a:solidFill>
                <a:latin typeface="Segoe UI"/>
              </a:defRPr>
            </a:pPr>
            <a:r>
              <a:t>GRAPH TOPOLOGY &amp; FORMAL SPECIFICATION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Segoe UI"/>
              </a:defRPr>
            </a:pPr>
            <a:r>
              <a:t>Transforming Knowledge into a Graph: G = (V, 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778240" y="457200"/>
            <a:ext cx="2651760" cy="594360"/>
          </a:xfrm>
          <a:prstGeom prst="roundRect">
            <a:avLst/>
          </a:prstGeom>
          <a:solidFill>
            <a:srgbClr val="161D2F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0B981"/>
                </a:solidFill>
                <a:latin typeface="Segoe UI"/>
              </a:defRPr>
            </a:pPr>
            <a:r>
              <a:t>SPEAKER A</a:t>
            </a:r>
          </a:p>
          <a:p>
            <a:pPr algn="ctr">
              <a:defRPr sz="950">
                <a:solidFill>
                  <a:srgbClr val="94A3B8"/>
                </a:solidFill>
                <a:latin typeface="Segoe UI"/>
              </a:defRPr>
            </a:pPr>
            <a:r>
              <a:t>1:00 (Elapsed 2:15)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852160" cy="4663440"/>
          </a:xfrm>
          <a:prstGeom prst="roundRect">
            <a:avLst/>
          </a:prstGeom>
          <a:solidFill>
            <a:srgbClr val="161D2F"/>
          </a:solidFill>
          <a:ln w="12700">
            <a:solidFill>
              <a:srgbClr val="2D3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00200"/>
            <a:ext cx="54864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200" b="1">
                <a:solidFill>
                  <a:srgbClr val="10B981"/>
                </a:solidFill>
                <a:latin typeface="Segoe UI"/>
              </a:rPr>
              <a:t>•  Order &amp; Size of Graph G: </a:t>
            </a:r>
            <a:r>
              <a:rPr sz="1150">
                <a:solidFill>
                  <a:srgbClr val="CBD5E1"/>
                </a:solidFill>
                <a:latin typeface="Segoe UI"/>
              </a:rPr>
              <a:t>|V| = 28 vertices, |E| = 39 edges across 6 distinct semantic domains.</a:t>
            </a:r>
          </a:p>
          <a:p>
            <a:pPr>
              <a:spcAft>
                <a:spcPts val="1000"/>
              </a:spcAft>
            </a:pPr>
            <a:r>
              <a:rPr sz="1200" b="1">
                <a:solidFill>
                  <a:srgbClr val="10B981"/>
                </a:solidFill>
                <a:latin typeface="Segoe UI"/>
              </a:rPr>
              <a:t>•  Six Domain Clusters: </a:t>
            </a:r>
            <a:r>
              <a:rPr sz="1150">
                <a:solidFill>
                  <a:srgbClr val="CBD5E1"/>
                </a:solidFill>
                <a:latin typeface="Segoe UI"/>
              </a:rPr>
              <a:t>Core AI (1), Learning &amp; Data (11), Vision (4), NLP (6), Reasoning (3), Specialized Chess (3).</a:t>
            </a:r>
          </a:p>
          <a:p>
            <a:pPr>
              <a:spcAft>
                <a:spcPts val="1000"/>
              </a:spcAft>
            </a:pPr>
            <a:r>
              <a:rPr sz="1200" b="1">
                <a:solidFill>
                  <a:srgbClr val="10B981"/>
                </a:solidFill>
                <a:latin typeface="Segoe UI"/>
              </a:rPr>
              <a:t>•  Two Connected Components: </a:t>
            </a:r>
            <a:r>
              <a:rPr sz="1150">
                <a:solidFill>
                  <a:srgbClr val="CBD5E1"/>
                </a:solidFill>
                <a:latin typeface="Segoe UI"/>
              </a:rPr>
              <a:t>Main Knowledge Network K1 (25 vertices, 37 edges) and Specialized Cluster K2 (3 vertices, 2 edges).</a:t>
            </a:r>
          </a:p>
          <a:p>
            <a:pPr>
              <a:spcAft>
                <a:spcPts val="1000"/>
              </a:spcAft>
            </a:pPr>
            <a:r>
              <a:rPr sz="1200" b="1">
                <a:solidFill>
                  <a:srgbClr val="10B981"/>
                </a:solidFill>
                <a:latin typeface="Segoe UI"/>
              </a:rPr>
              <a:t>•  Specialized Disconnection: </a:t>
            </a:r>
            <a:r>
              <a:rPr sz="1150">
                <a:solidFill>
                  <a:srgbClr val="CBD5E1"/>
                </a:solidFill>
                <a:latin typeface="Segoe UI"/>
              </a:rPr>
              <a:t>The chess rules cluster (chessrules ━ gametree ━ strategy) has zero paths to the main network, proving c = 2.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5166360"/>
            <a:ext cx="5486400" cy="77724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50" b="1">
                <a:solidFill>
                  <a:srgbClr val="10B981"/>
                </a:solidFill>
                <a:latin typeface="Segoe UI"/>
              </a:defRPr>
            </a:pPr>
            <a:r>
              <a:t>KEY TAKEAWAY</a:t>
            </a:r>
          </a:p>
          <a:p>
            <a:pPr>
              <a:defRPr sz="1050" b="1">
                <a:solidFill>
                  <a:srgbClr val="F8FAFC"/>
                </a:solidFill>
                <a:latin typeface="Segoe UI"/>
              </a:defRPr>
            </a:pPr>
            <a:r>
              <a:t>G consists of 2 components: a cohesive main mind (K1) and an isolated specialist cluster (K2).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0" y="1463040"/>
            <a:ext cx="4663440" cy="4663440"/>
          </a:xfrm>
          <a:prstGeom prst="roundRect">
            <a:avLst/>
          </a:prstGeom>
          <a:solidFill>
            <a:srgbClr val="161D2F"/>
          </a:solidFill>
          <a:ln w="12700">
            <a:solidFill>
              <a:srgbClr val="2D3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1_norm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600200"/>
            <a:ext cx="4389120" cy="34747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903720" y="5212080"/>
            <a:ext cx="4389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i="1">
                <a:solidFill>
                  <a:srgbClr val="94A3B8"/>
                </a:solidFill>
                <a:latin typeface="Segoe UI"/>
              </a:defRPr>
            </a:pPr>
            <a:r>
              <a:t>Figure 3: Topological map of G = (V, E) showing the 25-node main mind and 3-node chess cluster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 conceptual graph model used to demonstrate how Graph Theory can represent relationships between knowledge concepts. It is not how a real AI stores knowledge internally.  |  Slide 3 of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10B981"/>
                </a:solidFill>
                <a:latin typeface="Segoe UI"/>
              </a:defRPr>
            </a:pPr>
            <a:r>
              <a:t>RELATIONAL ONTOLOGY &amp; BIDIRECTIONALITY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Segoe UI"/>
              </a:defRPr>
            </a:pPr>
            <a:r>
              <a:t>Vertices, Edges, and Bidirectional Relational Semantics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778240" y="457200"/>
            <a:ext cx="2651760" cy="594360"/>
          </a:xfrm>
          <a:prstGeom prst="roundRect">
            <a:avLst/>
          </a:prstGeom>
          <a:solidFill>
            <a:srgbClr val="161D2F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0B981"/>
                </a:solidFill>
                <a:latin typeface="Segoe UI"/>
              </a:defRPr>
            </a:pPr>
            <a:r>
              <a:t>SPEAKER A</a:t>
            </a:r>
          </a:p>
          <a:p>
            <a:pPr algn="ctr">
              <a:defRPr sz="950">
                <a:solidFill>
                  <a:srgbClr val="94A3B8"/>
                </a:solidFill>
                <a:latin typeface="Segoe UI"/>
              </a:defRPr>
            </a:pPr>
            <a:r>
              <a:t>0:45 (Elapsed 3:00)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852160" cy="4663440"/>
          </a:xfrm>
          <a:prstGeom prst="roundRect">
            <a:avLst/>
          </a:prstGeom>
          <a:solidFill>
            <a:srgbClr val="161D2F"/>
          </a:solidFill>
          <a:ln w="12700">
            <a:solidFill>
              <a:srgbClr val="2D3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00200"/>
            <a:ext cx="54864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200" b="1">
                <a:solidFill>
                  <a:srgbClr val="10B981"/>
                </a:solidFill>
                <a:latin typeface="Segoe UI"/>
              </a:rPr>
              <a:t>•  Vertex Definition: </a:t>
            </a:r>
            <a:r>
              <a:rPr sz="1150">
                <a:solidFill>
                  <a:srgbClr val="CBD5E1"/>
                </a:solidFill>
                <a:latin typeface="Segoe UI"/>
              </a:rPr>
              <a:t>Each vertex v in V encapsulates a discrete knowledge concept with an exact &lt;= 10 word meaning.</a:t>
            </a:r>
          </a:p>
          <a:p>
            <a:pPr>
              <a:spcAft>
                <a:spcPts val="1000"/>
              </a:spcAft>
            </a:pPr>
            <a:r>
              <a:rPr sz="1200" b="1">
                <a:solidFill>
                  <a:srgbClr val="10B981"/>
                </a:solidFill>
                <a:latin typeface="Segoe UI"/>
              </a:rPr>
              <a:t>•  Edge Definition: </a:t>
            </a:r>
            <a:r>
              <a:rPr sz="1150">
                <a:solidFill>
                  <a:srgbClr val="CBD5E1"/>
                </a:solidFill>
                <a:latin typeface="Segoe UI"/>
              </a:rPr>
              <a:t>An edge e = {u, v} represents an undirected mutual relationship. Conceptual queries operate both ways.</a:t>
            </a:r>
          </a:p>
          <a:p>
            <a:pPr>
              <a:spcAft>
                <a:spcPts val="1000"/>
              </a:spcAft>
            </a:pPr>
            <a:r>
              <a:rPr sz="1200" b="1">
                <a:solidFill>
                  <a:srgbClr val="10B981"/>
                </a:solidFill>
                <a:latin typeface="Segoe UI"/>
              </a:rPr>
              <a:t>•  Case Study (E13: Training ━ Model): </a:t>
            </a:r>
            <a:r>
              <a:rPr sz="1150">
                <a:solidFill>
                  <a:srgbClr val="CBD5E1"/>
                </a:solidFill>
                <a:latin typeface="Segoe UI"/>
              </a:rPr>
              <a:t>Training shapes and parameters the Model; the Model architecture conversely defines training requirements.</a:t>
            </a:r>
          </a:p>
          <a:p>
            <a:pPr>
              <a:spcAft>
                <a:spcPts val="1000"/>
              </a:spcAft>
            </a:pPr>
            <a:r>
              <a:rPr sz="1200" b="1">
                <a:solidFill>
                  <a:srgbClr val="10B981"/>
                </a:solidFill>
                <a:latin typeface="Segoe UI"/>
              </a:rPr>
              <a:t>•  Incidence &amp; Adjacency: </a:t>
            </a:r>
            <a:r>
              <a:rPr sz="1150">
                <a:solidFill>
                  <a:srgbClr val="CBD5E1"/>
                </a:solidFill>
                <a:latin typeface="Segoe UI"/>
              </a:rPr>
              <a:t>The vertex 'training' has degree 4, incident to edges connecting it to 'ml', 'nn', 'model', and 'data'.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5166360"/>
            <a:ext cx="5486400" cy="77724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50" b="1">
                <a:solidFill>
                  <a:srgbClr val="10B981"/>
                </a:solidFill>
                <a:latin typeface="Segoe UI"/>
              </a:defRPr>
            </a:pPr>
            <a:r>
              <a:t>KEY TAKEAWAY</a:t>
            </a:r>
          </a:p>
          <a:p>
            <a:pPr>
              <a:defRPr sz="1050" b="1">
                <a:solidFill>
                  <a:srgbClr val="F8FAFC"/>
                </a:solidFill>
                <a:latin typeface="Segoe UI"/>
              </a:defRPr>
            </a:pPr>
            <a:r>
              <a:t>Knowledge is inherently bidirectional: learning adapts models, and models guide future learning.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0" y="1463040"/>
            <a:ext cx="4663440" cy="4663440"/>
          </a:xfrm>
          <a:prstGeom prst="roundRect">
            <a:avLst/>
          </a:prstGeom>
          <a:solidFill>
            <a:srgbClr val="161D2F"/>
          </a:solidFill>
          <a:ln w="12700">
            <a:solidFill>
              <a:srgbClr val="2D3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9_theory_draw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600200"/>
            <a:ext cx="4389120" cy="34747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903720" y="5212080"/>
            <a:ext cx="4389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i="1">
                <a:solidFill>
                  <a:srgbClr val="94A3B8"/>
                </a:solidFill>
                <a:latin typeface="Segoe UI"/>
              </a:defRPr>
            </a:pPr>
            <a:r>
              <a:t>Figure 4: Interactive Graph Theory Concept Cards Drawer explaining Vertex and Edge foundations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 conceptual graph model used to demonstrate how Graph Theory can represent relationships between knowledge concepts. It is not how a real AI stores knowledge internally.  |  Slide 4 of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10B981"/>
                </a:solidFill>
                <a:latin typeface="Segoe UI"/>
              </a:defRPr>
            </a:pPr>
            <a:r>
              <a:t>FUNDAMENTAL THEOREM &amp; DEGREE DISTRIBUTION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Segoe UI"/>
              </a:defRPr>
            </a:pPr>
            <a:r>
              <a:t>Vertex Degree &amp; The Handshaking Lemma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778240" y="457200"/>
            <a:ext cx="2651760" cy="594360"/>
          </a:xfrm>
          <a:prstGeom prst="roundRect">
            <a:avLst/>
          </a:prstGeom>
          <a:solidFill>
            <a:srgbClr val="161D2F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0B981"/>
                </a:solidFill>
                <a:latin typeface="Segoe UI"/>
              </a:defRPr>
            </a:pPr>
            <a:r>
              <a:t>SPEAKER A</a:t>
            </a:r>
          </a:p>
          <a:p>
            <a:pPr algn="ctr">
              <a:defRPr sz="950">
                <a:solidFill>
                  <a:srgbClr val="94A3B8"/>
                </a:solidFill>
                <a:latin typeface="Segoe UI"/>
              </a:defRPr>
            </a:pPr>
            <a:r>
              <a:t>0:45 (Elapsed 3:45)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852160" cy="4663440"/>
          </a:xfrm>
          <a:prstGeom prst="roundRect">
            <a:avLst/>
          </a:prstGeom>
          <a:solidFill>
            <a:srgbClr val="161D2F"/>
          </a:solidFill>
          <a:ln w="12700">
            <a:solidFill>
              <a:srgbClr val="2D3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00200"/>
            <a:ext cx="54864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200" b="1">
                <a:solidFill>
                  <a:srgbClr val="10B981"/>
                </a:solidFill>
                <a:latin typeface="Segoe UI"/>
              </a:rPr>
              <a:t>•  Degree Definition: </a:t>
            </a:r>
            <a:r>
              <a:rPr sz="1150">
                <a:solidFill>
                  <a:srgbClr val="CBD5E1"/>
                </a:solidFill>
                <a:latin typeface="Segoe UI"/>
              </a:rPr>
              <a:t>deg(v) equals the number of incident edges. deg(v) = |{u in V : {u, v} in E}|.</a:t>
            </a:r>
          </a:p>
          <a:p>
            <a:pPr>
              <a:spcAft>
                <a:spcPts val="1000"/>
              </a:spcAft>
            </a:pPr>
            <a:r>
              <a:rPr sz="1200" b="1">
                <a:solidFill>
                  <a:srgbClr val="10B981"/>
                </a:solidFill>
                <a:latin typeface="Segoe UI"/>
              </a:rPr>
              <a:t>•  Euler's Handshaking Lemma: </a:t>
            </a:r>
            <a:r>
              <a:rPr sz="1150">
                <a:solidFill>
                  <a:srgbClr val="CBD5E1"/>
                </a:solidFill>
                <a:latin typeface="Segoe UI"/>
              </a:rPr>
              <a:t>Sum of all degrees = 2|E|. For G: 2 * 39 = 78. (K1 sum = 74 = 2*37; K2 sum = 4 = 2*2).</a:t>
            </a:r>
          </a:p>
          <a:p>
            <a:pPr>
              <a:spcAft>
                <a:spcPts val="1000"/>
              </a:spcAft>
            </a:pPr>
            <a:r>
              <a:rPr sz="1200" b="1">
                <a:solidFill>
                  <a:srgbClr val="10B981"/>
                </a:solidFill>
                <a:latin typeface="Segoe UI"/>
              </a:rPr>
              <a:t>•  Surprising Architectural Finding: </a:t>
            </a:r>
            <a:r>
              <a:rPr sz="1150">
                <a:solidFill>
                  <a:srgbClr val="CBD5E1"/>
                </a:solidFill>
                <a:latin typeface="Segoe UI"/>
              </a:rPr>
              <a:t>'Data' is the unique maximal degree hub (deg = 7), NOT 'AI' (deg = 5).</a:t>
            </a:r>
          </a:p>
          <a:p>
            <a:pPr>
              <a:spcAft>
                <a:spcPts val="1000"/>
              </a:spcAft>
            </a:pPr>
            <a:r>
              <a:rPr sz="1200" b="1">
                <a:solidFill>
                  <a:srgbClr val="10B981"/>
                </a:solidFill>
                <a:latin typeface="Segoe UI"/>
              </a:rPr>
              <a:t>•  Degree Sequence of K1: </a:t>
            </a:r>
            <a:r>
              <a:rPr sz="1150">
                <a:solidFill>
                  <a:srgbClr val="CBD5E1"/>
                </a:solidFill>
                <a:latin typeface="Segoe UI"/>
              </a:rPr>
              <a:t>[7, 5, 5, 5, 4, 4, 4, 3, 3, 3, 3, 3, 2, 2, 2, 2, 2, 2, 2, 2, 2, 2, 2, 2, 1]. All 28 degrees verified.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5166360"/>
            <a:ext cx="5486400" cy="77724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50" b="1">
                <a:solidFill>
                  <a:srgbClr val="10B981"/>
                </a:solidFill>
                <a:latin typeface="Segoe UI"/>
              </a:defRPr>
            </a:pPr>
            <a:r>
              <a:t>KEY TAKEAWAY</a:t>
            </a:r>
          </a:p>
          <a:p>
            <a:pPr>
              <a:defRPr sz="1050" b="1">
                <a:solidFill>
                  <a:srgbClr val="F8FAFC"/>
                </a:solidFill>
                <a:latin typeface="Segoe UI"/>
              </a:defRPr>
            </a:pPr>
            <a:r>
              <a:t>Discrete Math proves the AI's mind is fundamentally data-driven, not executive-driven.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0" y="1463040"/>
            <a:ext cx="4663440" cy="4663440"/>
          </a:xfrm>
          <a:prstGeom prst="roundRect">
            <a:avLst/>
          </a:prstGeom>
          <a:solidFill>
            <a:srgbClr val="161D2F"/>
          </a:solidFill>
          <a:ln w="12700">
            <a:solidFill>
              <a:srgbClr val="2D3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2_deg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600200"/>
            <a:ext cx="4389120" cy="34747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903720" y="5212080"/>
            <a:ext cx="4389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i="1">
                <a:solidFill>
                  <a:srgbClr val="94A3B8"/>
                </a:solidFill>
                <a:latin typeface="Segoe UI"/>
              </a:defRPr>
            </a:pPr>
            <a:r>
              <a:t>Figure 5: Ranked degree distribution verifying Data as maximal hub (deg 7) and Handshaking sum = 78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 conceptual graph model used to demonstrate how Graph Theory can represent relationships between knowledge concepts. It is not how a real AI stores knowledge internally.  |  Slide 5 of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F43F5E"/>
                </a:solidFill>
                <a:latin typeface="Segoe UI"/>
              </a:defRPr>
            </a:pPr>
            <a:r>
              <a:t>CONNECTIVITY &amp; REASONING PIPELINES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Segoe UI"/>
              </a:defRPr>
            </a:pPr>
            <a:r>
              <a:t>Paths, Trails, and Reasoning Chains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778240" y="457200"/>
            <a:ext cx="2651760" cy="594360"/>
          </a:xfrm>
          <a:prstGeom prst="roundRect">
            <a:avLst/>
          </a:prstGeom>
          <a:solidFill>
            <a:srgbClr val="161D2F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43F5E"/>
                </a:solidFill>
                <a:latin typeface="Segoe UI"/>
              </a:defRPr>
            </a:pPr>
            <a:r>
              <a:t>SPEAKER B</a:t>
            </a:r>
          </a:p>
          <a:p>
            <a:pPr algn="ctr">
              <a:defRPr sz="950">
                <a:solidFill>
                  <a:srgbClr val="94A3B8"/>
                </a:solidFill>
                <a:latin typeface="Segoe UI"/>
              </a:defRPr>
            </a:pPr>
            <a:r>
              <a:t>1:00 (Elapsed 4:45)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852160" cy="4663440"/>
          </a:xfrm>
          <a:prstGeom prst="roundRect">
            <a:avLst/>
          </a:prstGeom>
          <a:solidFill>
            <a:srgbClr val="161D2F"/>
          </a:solidFill>
          <a:ln w="12700">
            <a:solidFill>
              <a:srgbClr val="2D3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00200"/>
            <a:ext cx="54864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200" b="1">
                <a:solidFill>
                  <a:srgbClr val="F43F5E"/>
                </a:solidFill>
                <a:latin typeface="Segoe UI"/>
              </a:rPr>
              <a:t>•  Walk vs Trail vs Path: </a:t>
            </a:r>
            <a:r>
              <a:rPr sz="1150">
                <a:solidFill>
                  <a:srgbClr val="CBD5E1"/>
                </a:solidFill>
                <a:latin typeface="Segoe UI"/>
              </a:rPr>
              <a:t>A Walk allows repeats; a Trail forbids repeated edges; a Path forbids repeated vertices.</a:t>
            </a:r>
          </a:p>
          <a:p>
            <a:pPr>
              <a:spcAft>
                <a:spcPts val="1000"/>
              </a:spcAft>
            </a:pPr>
            <a:r>
              <a:rPr sz="1200" b="1">
                <a:solidFill>
                  <a:srgbClr val="F43F5E"/>
                </a:solidFill>
                <a:latin typeface="Segoe UI"/>
              </a:rPr>
              <a:t>•  Path P1 (Inference Pipeline): </a:t>
            </a:r>
            <a:r>
              <a:rPr sz="1150">
                <a:solidFill>
                  <a:srgbClr val="CBD5E1"/>
                </a:solidFill>
                <a:latin typeface="Segoe UI"/>
              </a:rPr>
              <a:t>Data -&gt; Training -&gt; Model -&gt; Prediction (length 3 edges, 4 distinct vertices).</a:t>
            </a:r>
          </a:p>
          <a:p>
            <a:pPr>
              <a:spcAft>
                <a:spcPts val="1000"/>
              </a:spcAft>
            </a:pPr>
            <a:r>
              <a:rPr sz="1200" b="1">
                <a:solidFill>
                  <a:srgbClr val="F43F5E"/>
                </a:solidFill>
                <a:latin typeface="Segoe UI"/>
              </a:rPr>
              <a:t>•  Path P2 (NLP Semantic Grounding): </a:t>
            </a:r>
            <a:r>
              <a:rPr sz="1150">
                <a:solidFill>
                  <a:srgbClr val="CBD5E1"/>
                </a:solidFill>
                <a:latin typeface="Segoe UI"/>
              </a:rPr>
              <a:t>Words -&gt; Meaning -&gt; Context -&gt; Knowledge (length 3 edges, 4 distinct vertices).</a:t>
            </a:r>
          </a:p>
          <a:p>
            <a:pPr>
              <a:spcAft>
                <a:spcPts val="1000"/>
              </a:spcAft>
            </a:pPr>
            <a:r>
              <a:rPr sz="1200" b="1">
                <a:solidFill>
                  <a:srgbClr val="F43F5E"/>
                </a:solidFill>
                <a:latin typeface="Segoe UI"/>
              </a:rPr>
              <a:t>•  Shortest Path (P3): </a:t>
            </a:r>
            <a:r>
              <a:rPr sz="1150">
                <a:solidFill>
                  <a:srgbClr val="CBD5E1"/>
                </a:solidFill>
                <a:latin typeface="Segoe UI"/>
              </a:rPr>
              <a:t>Dataset -&gt; Data -&gt; AI -&gt; Knowledge -&gt; Decision (length 4 edges). Dataset -&gt; Strategy has NO path (null).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5166360"/>
            <a:ext cx="5486400" cy="77724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50" b="1">
                <a:solidFill>
                  <a:srgbClr val="F43F5E"/>
                </a:solidFill>
                <a:latin typeface="Segoe UI"/>
              </a:defRPr>
            </a:pPr>
            <a:r>
              <a:t>KEY TAKEAWAY</a:t>
            </a:r>
          </a:p>
          <a:p>
            <a:pPr>
              <a:defRPr sz="1050" b="1">
                <a:solidFill>
                  <a:srgbClr val="F8FAFC"/>
                </a:solidFill>
                <a:latin typeface="Segoe UI"/>
              </a:defRPr>
            </a:pPr>
            <a:r>
              <a:t>Logical inference in an AI corresponds strictly to simple paths between conceptual vertices.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0" y="1463040"/>
            <a:ext cx="4663440" cy="4663440"/>
          </a:xfrm>
          <a:prstGeom prst="roundRect">
            <a:avLst/>
          </a:prstGeom>
          <a:solidFill>
            <a:srgbClr val="161D2F"/>
          </a:solidFill>
          <a:ln w="12700">
            <a:solidFill>
              <a:srgbClr val="2D3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3_path_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600200"/>
            <a:ext cx="4389120" cy="34747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903720" y="5212080"/>
            <a:ext cx="4389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i="1">
                <a:solidFill>
                  <a:srgbClr val="94A3B8"/>
                </a:solidFill>
                <a:latin typeface="Segoe UI"/>
              </a:defRPr>
            </a:pPr>
            <a:r>
              <a:t>Figure 6: Path P1 highlighted in brilliant emerald across the 3D neural topography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 conceptual graph model used to demonstrate how Graph Theory can represent relationships between knowledge concepts. It is not how a real AI stores knowledge internally.  |  Slide 6 of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F43F5E"/>
                </a:solidFill>
                <a:latin typeface="Segoe UI"/>
              </a:defRPr>
            </a:pPr>
            <a:r>
              <a:t>CYCLIC TOPOLOGY &amp; LEARNING LOOPS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Segoe UI"/>
              </a:defRPr>
            </a:pPr>
            <a:r>
              <a:t>Cycles &amp; Feedback Loops in Learning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778240" y="457200"/>
            <a:ext cx="2651760" cy="594360"/>
          </a:xfrm>
          <a:prstGeom prst="roundRect">
            <a:avLst/>
          </a:prstGeom>
          <a:solidFill>
            <a:srgbClr val="161D2F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43F5E"/>
                </a:solidFill>
                <a:latin typeface="Segoe UI"/>
              </a:defRPr>
            </a:pPr>
            <a:r>
              <a:t>SPEAKER B</a:t>
            </a:r>
          </a:p>
          <a:p>
            <a:pPr algn="ctr">
              <a:defRPr sz="950">
                <a:solidFill>
                  <a:srgbClr val="94A3B8"/>
                </a:solidFill>
                <a:latin typeface="Segoe UI"/>
              </a:defRPr>
            </a:pPr>
            <a:r>
              <a:t>0:45 (Elapsed 5:30)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852160" cy="4663440"/>
          </a:xfrm>
          <a:prstGeom prst="roundRect">
            <a:avLst/>
          </a:prstGeom>
          <a:solidFill>
            <a:srgbClr val="161D2F"/>
          </a:solidFill>
          <a:ln w="12700">
            <a:solidFill>
              <a:srgbClr val="2D3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00200"/>
            <a:ext cx="54864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200" b="1">
                <a:solidFill>
                  <a:srgbClr val="F43F5E"/>
                </a:solidFill>
                <a:latin typeface="Segoe UI"/>
              </a:rPr>
              <a:t>•  Cycle Definition: </a:t>
            </a:r>
            <a:r>
              <a:rPr sz="1150">
                <a:solidFill>
                  <a:srgbClr val="CBD5E1"/>
                </a:solidFill>
                <a:latin typeface="Segoe UI"/>
              </a:rPr>
              <a:t>A closed walk of length &gt;= 3 where start = end, with no repeated intermediate vertices or edges.</a:t>
            </a:r>
          </a:p>
          <a:p>
            <a:pPr>
              <a:spcAft>
                <a:spcPts val="1000"/>
              </a:spcAft>
            </a:pPr>
            <a:r>
              <a:rPr sz="1200" b="1">
                <a:solidFill>
                  <a:srgbClr val="F43F5E"/>
                </a:solidFill>
                <a:latin typeface="Segoe UI"/>
              </a:rPr>
              <a:t>•  Primary Learning Cycle C1 (Length 5): </a:t>
            </a:r>
            <a:r>
              <a:rPr sz="1150">
                <a:solidFill>
                  <a:srgbClr val="CBD5E1"/>
                </a:solidFill>
                <a:latin typeface="Segoe UI"/>
              </a:rPr>
              <a:t>ML -&gt; Model -&gt; Prediction -&gt; Feedback -&gt; Data -&gt; ML. Models supervised retraining.</a:t>
            </a:r>
          </a:p>
          <a:p>
            <a:pPr>
              <a:spcAft>
                <a:spcPts val="1000"/>
              </a:spcAft>
            </a:pPr>
            <a:r>
              <a:rPr sz="1200" b="1">
                <a:solidFill>
                  <a:srgbClr val="F43F5E"/>
                </a:solidFill>
                <a:latin typeface="Segoe UI"/>
              </a:rPr>
              <a:t>•  Structural Triangles (K3 Cliques): </a:t>
            </a:r>
            <a:r>
              <a:rPr sz="1150">
                <a:solidFill>
                  <a:srgbClr val="CBD5E1"/>
                </a:solidFill>
                <a:latin typeface="Segoe UI"/>
              </a:rPr>
              <a:t>C2: ML -&gt; Training -&gt; Model -&gt; ML. C3: Language -&gt; Words -&gt; Text -&gt; Language.</a:t>
            </a:r>
          </a:p>
          <a:p>
            <a:pPr>
              <a:spcAft>
                <a:spcPts val="1000"/>
              </a:spcAft>
            </a:pPr>
            <a:r>
              <a:rPr sz="1200" b="1">
                <a:solidFill>
                  <a:srgbClr val="F43F5E"/>
                </a:solidFill>
                <a:latin typeface="Segoe UI"/>
              </a:rPr>
              <a:t>•  Acyclic Trees vs Cyclic Minds: </a:t>
            </a:r>
            <a:r>
              <a:rPr sz="1150">
                <a:solidFill>
                  <a:srgbClr val="CBD5E1"/>
                </a:solidFill>
                <a:latin typeface="Segoe UI"/>
              </a:rPr>
              <a:t>If knowledge were an acyclic tree, an AI could never learn from feedback. Cycles are vital.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5166360"/>
            <a:ext cx="5486400" cy="77724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50" b="1">
                <a:solidFill>
                  <a:srgbClr val="F43F5E"/>
                </a:solidFill>
                <a:latin typeface="Segoe UI"/>
              </a:defRPr>
            </a:pPr>
            <a:r>
              <a:t>KEY TAKEAWAY</a:t>
            </a:r>
          </a:p>
          <a:p>
            <a:pPr>
              <a:defRPr sz="1050" b="1">
                <a:solidFill>
                  <a:srgbClr val="F8FAFC"/>
                </a:solidFill>
                <a:latin typeface="Segoe UI"/>
              </a:defRPr>
            </a:pPr>
            <a:r>
              <a:t>Without cycles, an AI cannot learn from mistakes: feedback loops require cyclic graph topology.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0" y="1463040"/>
            <a:ext cx="4663440" cy="4663440"/>
          </a:xfrm>
          <a:prstGeom prst="roundRect">
            <a:avLst/>
          </a:prstGeom>
          <a:solidFill>
            <a:srgbClr val="161D2F"/>
          </a:solidFill>
          <a:ln w="12700">
            <a:solidFill>
              <a:srgbClr val="2D3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4_cycle_c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600200"/>
            <a:ext cx="4389120" cy="34747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903720" y="5212080"/>
            <a:ext cx="4389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i="1">
                <a:solidFill>
                  <a:srgbClr val="94A3B8"/>
                </a:solidFill>
                <a:latin typeface="Segoe UI"/>
              </a:defRPr>
            </a:pPr>
            <a:r>
              <a:t>Figure 7: Cycle C1 feedback loop illuminated in vivid cyan, tracing model adaptation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 conceptual graph model used to demonstrate how Graph Theory can represent relationships between knowledge concepts. It is not how a real AI stores knowledge internally.  |  Slide 7 of 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F43F5E"/>
                </a:solidFill>
                <a:latin typeface="Segoe UI"/>
              </a:defRPr>
            </a:pPr>
            <a:r>
              <a:t>SUBGRAPH THEORY &amp; MODULAR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Segoe UI"/>
              </a:defRPr>
            </a:pPr>
            <a:r>
              <a:t>Subgraphs vs. Connected Components: Domain Clusters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778240" y="457200"/>
            <a:ext cx="2651760" cy="594360"/>
          </a:xfrm>
          <a:prstGeom prst="roundRect">
            <a:avLst/>
          </a:prstGeom>
          <a:solidFill>
            <a:srgbClr val="161D2F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43F5E"/>
                </a:solidFill>
                <a:latin typeface="Segoe UI"/>
              </a:defRPr>
            </a:pPr>
            <a:r>
              <a:t>SPEAKER B</a:t>
            </a:r>
          </a:p>
          <a:p>
            <a:pPr algn="ctr">
              <a:defRPr sz="950">
                <a:solidFill>
                  <a:srgbClr val="94A3B8"/>
                </a:solidFill>
                <a:latin typeface="Segoe UI"/>
              </a:defRPr>
            </a:pPr>
            <a:r>
              <a:t>0:45 (Elapsed 6:15)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852160" cy="4663440"/>
          </a:xfrm>
          <a:prstGeom prst="roundRect">
            <a:avLst/>
          </a:prstGeom>
          <a:solidFill>
            <a:srgbClr val="161D2F"/>
          </a:solidFill>
          <a:ln w="12700">
            <a:solidFill>
              <a:srgbClr val="2D3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00200"/>
            <a:ext cx="54864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200" b="1">
                <a:solidFill>
                  <a:srgbClr val="F43F5E"/>
                </a:solidFill>
                <a:latin typeface="Segoe UI"/>
              </a:rPr>
              <a:t>•  Subgraph Definition: </a:t>
            </a:r>
            <a:r>
              <a:rPr sz="1150">
                <a:solidFill>
                  <a:srgbClr val="CBD5E1"/>
                </a:solidFill>
                <a:latin typeface="Segoe UI"/>
              </a:rPr>
              <a:t>H = (V_H, E_H) where V_H subset of V and E_H subset of E. An induced subgraph preserves all mutual edges.</a:t>
            </a:r>
          </a:p>
          <a:p>
            <a:pPr>
              <a:spcAft>
                <a:spcPts val="1000"/>
              </a:spcAft>
            </a:pPr>
            <a:r>
              <a:rPr sz="1200" b="1">
                <a:solidFill>
                  <a:srgbClr val="F43F5E"/>
                </a:solidFill>
                <a:latin typeface="Segoe UI"/>
              </a:rPr>
              <a:t>•  Common Misconception Debunked: </a:t>
            </a:r>
            <a:r>
              <a:rPr sz="1150">
                <a:solidFill>
                  <a:srgbClr val="CBD5E1"/>
                </a:solidFill>
                <a:latin typeface="Segoe UI"/>
              </a:rPr>
              <a:t>Domain modules (Vision, NLP, Learning) are subgraphs, NOT components, because boundary edges tie them to G.</a:t>
            </a:r>
          </a:p>
          <a:p>
            <a:pPr>
              <a:spcAft>
                <a:spcPts val="1000"/>
              </a:spcAft>
            </a:pPr>
            <a:r>
              <a:rPr sz="1200" b="1">
                <a:solidFill>
                  <a:srgbClr val="F43F5E"/>
                </a:solidFill>
                <a:latin typeface="Segoe UI"/>
              </a:rPr>
              <a:t>•  Featured Subgraphs: </a:t>
            </a:r>
            <a:r>
              <a:rPr sz="1150">
                <a:solidFill>
                  <a:srgbClr val="CBD5E1"/>
                </a:solidFill>
                <a:latin typeface="Segoe UI"/>
              </a:rPr>
              <a:t>S1 Learning (11 nodes, 16 edges, 5 boundary edges); S2 Vision (4 nodes, 3 edges, 3 boundary edges).</a:t>
            </a:r>
          </a:p>
          <a:p>
            <a:pPr>
              <a:spcAft>
                <a:spcPts val="1000"/>
              </a:spcAft>
            </a:pPr>
            <a:r>
              <a:rPr sz="1200" b="1">
                <a:solidFill>
                  <a:srgbClr val="F43F5E"/>
                </a:solidFill>
                <a:latin typeface="Segoe UI"/>
              </a:rPr>
              <a:t>•  Vision Boundary Edges: </a:t>
            </a:r>
            <a:r>
              <a:rPr sz="1150">
                <a:solidFill>
                  <a:srgbClr val="CBD5E1"/>
                </a:solidFill>
                <a:latin typeface="Segoe UI"/>
              </a:rPr>
              <a:t>E2 (AI ━ CV), E25 (Recognition ━ Knowledge), and E26 (Image ━ Data) integrate seeing with thinking.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5166360"/>
            <a:ext cx="5486400" cy="77724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50" b="1">
                <a:solidFill>
                  <a:srgbClr val="F43F5E"/>
                </a:solidFill>
                <a:latin typeface="Segoe UI"/>
              </a:defRPr>
            </a:pPr>
            <a:r>
              <a:t>KEY TAKEAWAY</a:t>
            </a:r>
          </a:p>
          <a:p>
            <a:pPr>
              <a:defRPr sz="1050" b="1">
                <a:solidFill>
                  <a:srgbClr val="F8FAFC"/>
                </a:solidFill>
                <a:latin typeface="Segoe UI"/>
              </a:defRPr>
            </a:pPr>
            <a:r>
              <a:t>Specialised domains are modular subgraphs anchored to the main core by explicit boundary edges.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0" y="1463040"/>
            <a:ext cx="4663440" cy="4663440"/>
          </a:xfrm>
          <a:prstGeom prst="roundRect">
            <a:avLst/>
          </a:prstGeom>
          <a:solidFill>
            <a:srgbClr val="161D2F"/>
          </a:solidFill>
          <a:ln w="12700">
            <a:solidFill>
              <a:srgbClr val="2D3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5_subgraph_s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600200"/>
            <a:ext cx="4389120" cy="34747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903720" y="5212080"/>
            <a:ext cx="4389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i="1">
                <a:solidFill>
                  <a:srgbClr val="94A3B8"/>
                </a:solidFill>
                <a:latin typeface="Segoe UI"/>
              </a:defRPr>
            </a:pPr>
            <a:r>
              <a:t>Figure 8: Computer Vision Subgraph S2 highlighted in rose with gold boundary edge connectors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 conceptual graph model used to demonstrate how Graph Theory can represent relationships between knowledge concepts. It is not how a real AI stores knowledge internally.  |  Slide 8 of 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F43F5E"/>
                </a:solidFill>
                <a:latin typeface="Segoe UI"/>
              </a:defRPr>
            </a:pPr>
            <a:r>
              <a:t>RESILIENCE, BOTTLENECKS &amp; VULNERABILITIES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Segoe UI"/>
              </a:defRPr>
            </a:pPr>
            <a:r>
              <a:t>Connectedness, Cut Vertices &amp; Bridges: System Vulnerabilities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778240" y="457200"/>
            <a:ext cx="2651760" cy="594360"/>
          </a:xfrm>
          <a:prstGeom prst="roundRect">
            <a:avLst/>
          </a:prstGeom>
          <a:solidFill>
            <a:srgbClr val="161D2F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43F5E"/>
                </a:solidFill>
                <a:latin typeface="Segoe UI"/>
              </a:defRPr>
            </a:pPr>
            <a:r>
              <a:t>SPEAKER B</a:t>
            </a:r>
          </a:p>
          <a:p>
            <a:pPr algn="ctr">
              <a:defRPr sz="950">
                <a:solidFill>
                  <a:srgbClr val="94A3B8"/>
                </a:solidFill>
                <a:latin typeface="Segoe UI"/>
              </a:defRPr>
            </a:pPr>
            <a:r>
              <a:t>1:00 (Elapsed 7:15)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852160" cy="4663440"/>
          </a:xfrm>
          <a:prstGeom prst="roundRect">
            <a:avLst/>
          </a:prstGeom>
          <a:solidFill>
            <a:srgbClr val="161D2F"/>
          </a:solidFill>
          <a:ln w="12700">
            <a:solidFill>
              <a:srgbClr val="2D3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00200"/>
            <a:ext cx="54864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200" b="1">
                <a:solidFill>
                  <a:srgbClr val="F43F5E"/>
                </a:solidFill>
                <a:latin typeface="Segoe UI"/>
              </a:rPr>
              <a:t>•  Connected Component: </a:t>
            </a:r>
            <a:r>
              <a:rPr sz="1150">
                <a:solidFill>
                  <a:srgbClr val="CBD5E1"/>
                </a:solidFill>
                <a:latin typeface="Segoe UI"/>
              </a:rPr>
              <a:t>A maximal connected subgraph. Whole graph G has exactly 2 components (c = 2).</a:t>
            </a:r>
          </a:p>
          <a:p>
            <a:pPr>
              <a:spcAft>
                <a:spcPts val="1000"/>
              </a:spcAft>
            </a:pPr>
            <a:r>
              <a:rPr sz="1200" b="1">
                <a:solidFill>
                  <a:srgbClr val="F43F5E"/>
                </a:solidFill>
                <a:latin typeface="Segoe UI"/>
              </a:rPr>
              <a:t>•  Cut Vertex Discovery: </a:t>
            </a:r>
            <a:r>
              <a:rPr sz="1150">
                <a:solidFill>
                  <a:srgbClr val="CBD5E1"/>
                </a:solidFill>
                <a:latin typeface="Segoe UI"/>
              </a:rPr>
              <a:t>'Data' is a Cut Vertex: removing 'Data' increases components from 2 to 3, stranding 'Dataset' as an isolated node!</a:t>
            </a:r>
          </a:p>
          <a:p>
            <a:pPr>
              <a:spcAft>
                <a:spcPts val="1000"/>
              </a:spcAft>
            </a:pPr>
            <a:r>
              <a:rPr sz="1200" b="1">
                <a:solidFill>
                  <a:srgbClr val="F43F5E"/>
                </a:solidFill>
                <a:latin typeface="Segoe UI"/>
              </a:rPr>
              <a:t>•  Is 'AI' a Cut Vertex?: </a:t>
            </a:r>
            <a:r>
              <a:rPr sz="1150">
                <a:solidFill>
                  <a:srgbClr val="CBD5E1"/>
                </a:solidFill>
                <a:latin typeface="Segoe UI"/>
              </a:rPr>
              <a:t>NO! Removing 'AI' leaves K1 connected (c remains 2) due to alternate redundant circuits.</a:t>
            </a:r>
          </a:p>
          <a:p>
            <a:pPr>
              <a:spcAft>
                <a:spcPts val="1000"/>
              </a:spcAft>
            </a:pPr>
            <a:r>
              <a:rPr sz="1200" b="1">
                <a:solidFill>
                  <a:srgbClr val="F43F5E"/>
                </a:solidFill>
                <a:latin typeface="Segoe UI"/>
              </a:rPr>
              <a:t>•  Bridge Edge E18: </a:t>
            </a:r>
            <a:r>
              <a:rPr sz="1150">
                <a:solidFill>
                  <a:srgbClr val="CBD5E1"/>
                </a:solidFill>
                <a:latin typeface="Segoe UI"/>
              </a:rPr>
              <a:t>Edge E18 (Data ━ Dataset) is a Bridge: removing E18 instantly increases components from 2 to 3.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5166360"/>
            <a:ext cx="5486400" cy="77724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50" b="1">
                <a:solidFill>
                  <a:srgbClr val="F43F5E"/>
                </a:solidFill>
                <a:latin typeface="Segoe UI"/>
              </a:defRPr>
            </a:pPr>
            <a:r>
              <a:t>KEY TAKEAWAY</a:t>
            </a:r>
          </a:p>
          <a:p>
            <a:pPr>
              <a:defRPr sz="1050" b="1">
                <a:solidFill>
                  <a:srgbClr val="F8FAFC"/>
                </a:solidFill>
                <a:latin typeface="Segoe UI"/>
              </a:defRPr>
            </a:pPr>
            <a:r>
              <a:t>Data is the single point of catastrophic failure; the AI hub itself has resilient redundant circuits.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0" y="1463040"/>
            <a:ext cx="4663440" cy="4663440"/>
          </a:xfrm>
          <a:prstGeom prst="roundRect">
            <a:avLst/>
          </a:prstGeom>
          <a:solidFill>
            <a:srgbClr val="161D2F"/>
          </a:solidFill>
          <a:ln w="12700">
            <a:solidFill>
              <a:srgbClr val="2D3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6_component_remove_d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600200"/>
            <a:ext cx="4389120" cy="34747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903720" y="5212080"/>
            <a:ext cx="4389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i="1">
                <a:solidFill>
                  <a:srgbClr val="94A3B8"/>
                </a:solidFill>
                <a:latin typeface="Segoe UI"/>
              </a:defRPr>
            </a:pPr>
            <a:r>
              <a:t>Figure 9: Component fragmentation demonstration: removing Data increases component count from 2 to 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 conceptual graph model used to demonstrate how Graph Theory can represent relationships between knowledge concepts. It is not how a real AI stores knowledge internally.  |  Slide 9 of 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F59E0B"/>
                </a:solidFill>
                <a:latin typeface="Segoe UI"/>
              </a:defRPr>
            </a:pPr>
            <a:r>
              <a:t>EVALUATION, REFLECTION &amp; CRITICAL THINKING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Segoe UI"/>
              </a:defRPr>
            </a:pPr>
            <a:r>
              <a:t>Critical Thinking, Limitations &amp; Analysis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778240" y="457200"/>
            <a:ext cx="2651760" cy="594360"/>
          </a:xfrm>
          <a:prstGeom prst="roundRect">
            <a:avLst/>
          </a:prstGeom>
          <a:solidFill>
            <a:srgbClr val="161D2F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59E0B"/>
                </a:solidFill>
                <a:latin typeface="Segoe UI"/>
              </a:defRPr>
            </a:pPr>
            <a:r>
              <a:t>SPEAKER A &amp; B</a:t>
            </a:r>
          </a:p>
          <a:p>
            <a:pPr algn="ctr">
              <a:defRPr sz="950">
                <a:solidFill>
                  <a:srgbClr val="94A3B8"/>
                </a:solidFill>
                <a:latin typeface="Segoe UI"/>
              </a:defRPr>
            </a:pPr>
            <a:r>
              <a:t>0:45 (Elapsed 8:00)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852160" cy="4663440"/>
          </a:xfrm>
          <a:prstGeom prst="roundRect">
            <a:avLst/>
          </a:prstGeom>
          <a:solidFill>
            <a:srgbClr val="161D2F"/>
          </a:solidFill>
          <a:ln w="12700">
            <a:solidFill>
              <a:srgbClr val="2D3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00200"/>
            <a:ext cx="54864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200" b="1">
                <a:solidFill>
                  <a:srgbClr val="F59E0B"/>
                </a:solidFill>
                <a:latin typeface="Segoe UI"/>
              </a:rPr>
              <a:t>•  What Graph Theory Exposes: </a:t>
            </a:r>
            <a:r>
              <a:rPr sz="1150">
                <a:solidFill>
                  <a:srgbClr val="CBD5E1"/>
                </a:solidFill>
                <a:latin typeface="Segoe UI"/>
              </a:rPr>
              <a:t>Uncovers architectural vulnerabilities (cut vertices) and reasoning pathways that matrix weights conceal.</a:t>
            </a:r>
          </a:p>
          <a:p>
            <a:pPr>
              <a:spcAft>
                <a:spcPts val="1000"/>
              </a:spcAft>
            </a:pPr>
            <a:r>
              <a:rPr sz="1200" b="1">
                <a:solidFill>
                  <a:srgbClr val="F59E0B"/>
                </a:solidFill>
                <a:latin typeface="Segoe UI"/>
              </a:rPr>
              <a:t>•  Model Limitations Acknowledged: </a:t>
            </a:r>
            <a:r>
              <a:rPr sz="1150">
                <a:solidFill>
                  <a:srgbClr val="CBD5E1"/>
                </a:solidFill>
                <a:latin typeface="Segoe UI"/>
              </a:rPr>
              <a:t>Static topology (real neural embeddings adapt dynamically); unweighted edges (treats all bonds equally).</a:t>
            </a:r>
          </a:p>
          <a:p>
            <a:pPr>
              <a:spcAft>
                <a:spcPts val="1000"/>
              </a:spcAft>
            </a:pPr>
            <a:r>
              <a:rPr sz="1200" b="1">
                <a:solidFill>
                  <a:srgbClr val="F59E0B"/>
                </a:solidFill>
                <a:latin typeface="Segoe UI"/>
              </a:rPr>
              <a:t>•  Bidirectional Simplification: </a:t>
            </a:r>
            <a:r>
              <a:rPr sz="1150">
                <a:solidFill>
                  <a:srgbClr val="CBD5E1"/>
                </a:solidFill>
                <a:latin typeface="Segoe UI"/>
              </a:rPr>
              <a:t>Undirected edges represent associative access, though causality in deep networks is often directional.</a:t>
            </a:r>
          </a:p>
          <a:p>
            <a:pPr>
              <a:spcAft>
                <a:spcPts val="1000"/>
              </a:spcAft>
            </a:pPr>
            <a:r>
              <a:rPr sz="1200" b="1">
                <a:solidFill>
                  <a:srgbClr val="F59E0B"/>
                </a:solidFill>
                <a:latin typeface="Segoe UI"/>
              </a:rPr>
              <a:t>•  Academic Conclusion: </a:t>
            </a:r>
            <a:r>
              <a:rPr sz="1150">
                <a:solidFill>
                  <a:srgbClr val="CBD5E1"/>
                </a:solidFill>
                <a:latin typeface="Segoe UI"/>
              </a:rPr>
              <a:t>Discrete graph theory is a legitimate, rigorous, and intuitive framework for explainable AI.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5166360"/>
            <a:ext cx="5486400" cy="77724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50" b="1">
                <a:solidFill>
                  <a:srgbClr val="F59E0B"/>
                </a:solidFill>
                <a:latin typeface="Segoe UI"/>
              </a:defRPr>
            </a:pPr>
            <a:r>
              <a:t>KEY TAKEAWAY</a:t>
            </a:r>
          </a:p>
          <a:p>
            <a:pPr>
              <a:defRPr sz="1050" b="1">
                <a:solidFill>
                  <a:srgbClr val="F8FAFC"/>
                </a:solidFill>
                <a:latin typeface="Segoe UI"/>
              </a:defRPr>
            </a:pPr>
            <a:r>
              <a:t>Discrete graph theory provides an elegant formal bridge between human reasoning and artificial systems.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0" y="1463040"/>
            <a:ext cx="4663440" cy="4663440"/>
          </a:xfrm>
          <a:prstGeom prst="roundRect">
            <a:avLst/>
          </a:prstGeom>
          <a:solidFill>
            <a:srgbClr val="161D2F"/>
          </a:solidFill>
          <a:ln w="12700">
            <a:solidFill>
              <a:srgbClr val="2D3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10_analysis_draw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600200"/>
            <a:ext cx="4389120" cy="34747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903720" y="5212080"/>
            <a:ext cx="4389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i="1">
                <a:solidFill>
                  <a:srgbClr val="94A3B8"/>
                </a:solidFill>
                <a:latin typeface="Segoe UI"/>
              </a:defRPr>
            </a:pPr>
            <a:r>
              <a:t>Figure 10: Observations &amp; Critical Thinking Drawer evaluating model strengths and limitations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 conceptual graph model used to demonstrate how Graph Theory can represent relationships between knowledge concepts. It is not how a real AI stores knowledge internally.  |  Slide 10 of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10B981"/>
                </a:solidFill>
                <a:latin typeface="Segoe UI"/>
              </a:defRPr>
            </a:pPr>
            <a:r>
              <a:t>ALGORITHMIC GRAPH THEORY • SHORTEST PATHS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Segoe UI"/>
              </a:defRPr>
            </a:pPr>
            <a:r>
              <a:t>Shortest Path Algorithms: Dijkstra &amp; Floyd-Warshall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778240" y="457200"/>
            <a:ext cx="2651760" cy="594360"/>
          </a:xfrm>
          <a:prstGeom prst="roundRect">
            <a:avLst/>
          </a:prstGeom>
          <a:solidFill>
            <a:srgbClr val="161D2F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0B981"/>
                </a:solidFill>
                <a:latin typeface="Segoe UI"/>
              </a:defRPr>
            </a:pPr>
            <a:r>
              <a:t>SPEAKER A</a:t>
            </a:r>
          </a:p>
          <a:p>
            <a:pPr algn="ctr">
              <a:defRPr sz="950">
                <a:solidFill>
                  <a:srgbClr val="94A3B8"/>
                </a:solidFill>
                <a:latin typeface="Segoe UI"/>
              </a:defRPr>
            </a:pPr>
            <a:r>
              <a:t>0:45 (Elapsed 8:45)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852160" cy="4663440"/>
          </a:xfrm>
          <a:prstGeom prst="roundRect">
            <a:avLst/>
          </a:prstGeom>
          <a:solidFill>
            <a:srgbClr val="161D2F"/>
          </a:solidFill>
          <a:ln w="12700">
            <a:solidFill>
              <a:srgbClr val="2D3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00200"/>
            <a:ext cx="54864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200" b="1">
                <a:solidFill>
                  <a:srgbClr val="10B981"/>
                </a:solidFill>
                <a:latin typeface="Segoe UI"/>
              </a:rPr>
              <a:t>•  Dijkstra's Greedy Relaxation: </a:t>
            </a:r>
            <a:r>
              <a:rPr sz="1150">
                <a:solidFill>
                  <a:srgbClr val="CBD5E1"/>
                </a:solidFill>
                <a:latin typeface="Segoe UI"/>
              </a:rPr>
              <a:t>Computes single-source shortest paths using edge relaxation: d(v) = min(d(v), d(u) + w(u,v)). Finds optimal paths with minimum conceptual distance.</a:t>
            </a:r>
          </a:p>
          <a:p>
            <a:pPr>
              <a:spcAft>
                <a:spcPts val="1000"/>
              </a:spcAft>
            </a:pPr>
            <a:r>
              <a:rPr sz="1200" b="1">
                <a:solidFill>
                  <a:srgbClr val="10B981"/>
                </a:solidFill>
                <a:latin typeface="Segoe UI"/>
              </a:rPr>
              <a:t>•  Floyd-Warshall All-Pairs Formulation: </a:t>
            </a:r>
            <a:r>
              <a:rPr sz="1150">
                <a:solidFill>
                  <a:srgbClr val="CBD5E1"/>
                </a:solidFill>
                <a:latin typeface="Segoe UI"/>
              </a:rPr>
              <a:t>Dynamic programming recurrence d_ij^(k) = min(d_ij^(k-1), d_ik^(k-1) + d_kj^(k-1)) computes distance between all 28 concept pairs.</a:t>
            </a:r>
          </a:p>
          <a:p>
            <a:pPr>
              <a:spcAft>
                <a:spcPts val="1000"/>
              </a:spcAft>
            </a:pPr>
            <a:r>
              <a:rPr sz="1200" b="1">
                <a:solidFill>
                  <a:srgbClr val="10B981"/>
                </a:solidFill>
                <a:latin typeface="Segoe UI"/>
              </a:rPr>
              <a:t>•  Diameter &amp; Radius of Component K1: </a:t>
            </a:r>
            <a:r>
              <a:rPr sz="1150">
                <a:solidFill>
                  <a:srgbClr val="CBD5E1"/>
                </a:solidFill>
                <a:latin typeface="Segoe UI"/>
              </a:rPr>
              <a:t>Component K1 diameter is 5 (deep learning to object detection); radius is 3.</a:t>
            </a:r>
          </a:p>
          <a:p>
            <a:pPr>
              <a:spcAft>
                <a:spcPts val="1000"/>
              </a:spcAft>
            </a:pPr>
            <a:r>
              <a:rPr sz="1200" b="1">
                <a:solidFill>
                  <a:srgbClr val="10B981"/>
                </a:solidFill>
                <a:latin typeface="Segoe UI"/>
              </a:rPr>
              <a:t>•  Knowledge Center Vertices: </a:t>
            </a:r>
            <a:r>
              <a:rPr sz="1150">
                <a:solidFill>
                  <a:srgbClr val="CBD5E1"/>
                </a:solidFill>
                <a:latin typeface="Segoe UI"/>
              </a:rPr>
              <a:t>Centers of the AI Mind are {'AI', 'Data'} whose eccentricity equals the radius (3).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5166360"/>
            <a:ext cx="5486400" cy="77724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50" b="1">
                <a:solidFill>
                  <a:srgbClr val="10B981"/>
                </a:solidFill>
                <a:latin typeface="Segoe UI"/>
              </a:defRPr>
            </a:pPr>
            <a:r>
              <a:t>KEY TAKEAWAY</a:t>
            </a:r>
          </a:p>
          <a:p>
            <a:pPr>
              <a:defRPr sz="1050" b="1">
                <a:solidFill>
                  <a:srgbClr val="F8FAFC"/>
                </a:solidFill>
                <a:latin typeface="Segoe UI"/>
              </a:defRPr>
            </a:pPr>
            <a:r>
              <a:t>Dijkstra and Floyd-Warshall establish the metric geometry of knowledge navigation inside the AI mind.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0" y="1463040"/>
            <a:ext cx="4663440" cy="4663440"/>
          </a:xfrm>
          <a:prstGeom prst="roundRect">
            <a:avLst/>
          </a:prstGeom>
          <a:solidFill>
            <a:srgbClr val="161D2F"/>
          </a:solidFill>
          <a:ln w="12700">
            <a:solidFill>
              <a:srgbClr val="2D3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3_path_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600200"/>
            <a:ext cx="4389120" cy="34747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903720" y="5212080"/>
            <a:ext cx="4389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i="1">
                <a:solidFill>
                  <a:srgbClr val="94A3B8"/>
                </a:solidFill>
                <a:latin typeface="Segoe UI"/>
              </a:defRPr>
            </a:pPr>
            <a:r>
              <a:t>Figure 11: Dijkstra relaxation trace and Floyd-Warshall all-pairs distance metrics on component K1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 conceptual graph model used to demonstrate how Graph Theory can represent relationships between knowledge concepts. It is not how a real AI stores knowledge internally.  |  Slide 11 of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10B981"/>
                </a:solidFill>
                <a:latin typeface="Segoe UI"/>
              </a:defRPr>
            </a:pPr>
            <a:r>
              <a:t>CHROMATIC GRAPH THEORY • COLORING BOUNDS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Segoe UI"/>
              </a:defRPr>
            </a:pPr>
            <a:r>
              <a:t>Graph Coloring: Vertex (χ=3) &amp; Edge (χ'=7) Numbers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778240" y="457200"/>
            <a:ext cx="2651760" cy="594360"/>
          </a:xfrm>
          <a:prstGeom prst="roundRect">
            <a:avLst/>
          </a:prstGeom>
          <a:solidFill>
            <a:srgbClr val="161D2F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0B981"/>
                </a:solidFill>
                <a:latin typeface="Segoe UI"/>
              </a:defRPr>
            </a:pPr>
            <a:r>
              <a:t>SPEAKER A</a:t>
            </a:r>
          </a:p>
          <a:p>
            <a:pPr algn="ctr">
              <a:defRPr sz="950">
                <a:solidFill>
                  <a:srgbClr val="94A3B8"/>
                </a:solidFill>
                <a:latin typeface="Segoe UI"/>
              </a:defRPr>
            </a:pPr>
            <a:r>
              <a:t>0:45 (Elapsed 9:30)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852160" cy="4663440"/>
          </a:xfrm>
          <a:prstGeom prst="roundRect">
            <a:avLst/>
          </a:prstGeom>
          <a:solidFill>
            <a:srgbClr val="161D2F"/>
          </a:solidFill>
          <a:ln w="12700">
            <a:solidFill>
              <a:srgbClr val="2D3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00200"/>
            <a:ext cx="54864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200" b="1">
                <a:solidFill>
                  <a:srgbClr val="10B981"/>
                </a:solidFill>
                <a:latin typeface="Segoe UI"/>
              </a:rPr>
              <a:t>•  Vertex Coloring Definition: </a:t>
            </a:r>
            <a:r>
              <a:rPr sz="1150">
                <a:solidFill>
                  <a:srgbClr val="CBD5E1"/>
                </a:solidFill>
                <a:latin typeface="Segoe UI"/>
              </a:rPr>
              <a:t>Assigns colors to V such that {u, v} in E implies c(u) != c(v). Models conflict-free independent concept subsets.</a:t>
            </a:r>
          </a:p>
          <a:p>
            <a:pPr>
              <a:spcAft>
                <a:spcPts val="1000"/>
              </a:spcAft>
            </a:pPr>
            <a:r>
              <a:rPr sz="1200" b="1">
                <a:solidFill>
                  <a:srgbClr val="10B981"/>
                </a:solidFill>
                <a:latin typeface="Segoe UI"/>
              </a:rPr>
              <a:t>•  Welsh-Powell Greedy Execution: </a:t>
            </a:r>
            <a:r>
              <a:rPr sz="1150">
                <a:solidFill>
                  <a:srgbClr val="CBD5E1"/>
                </a:solidFill>
                <a:latin typeface="Segoe UI"/>
              </a:rPr>
              <a:t>Sorted by descending degrees; strictly computes Chromatic Number chi(G) = 3 (11 Cyan, 13 Emerald, 4 Amber).</a:t>
            </a:r>
          </a:p>
          <a:p>
            <a:pPr>
              <a:spcAft>
                <a:spcPts val="1000"/>
              </a:spcAft>
            </a:pPr>
            <a:r>
              <a:rPr sz="1200" b="1">
                <a:solidFill>
                  <a:srgbClr val="10B981"/>
                </a:solidFill>
                <a:latin typeface="Segoe UI"/>
              </a:rPr>
              <a:t>•  Theoretical Bounds Verified: </a:t>
            </a:r>
            <a:r>
              <a:rPr sz="1150">
                <a:solidFill>
                  <a:srgbClr val="CBD5E1"/>
                </a:solidFill>
                <a:latin typeface="Segoe UI"/>
              </a:rPr>
              <a:t>Lower bound omega(G) = 3 (triangles C2, C3); upper bound chi(G) &lt;= Delta(G) + 1 = 8. Verified with 0 conflicts.</a:t>
            </a:r>
          </a:p>
          <a:p>
            <a:pPr>
              <a:spcAft>
                <a:spcPts val="1000"/>
              </a:spcAft>
            </a:pPr>
            <a:r>
              <a:rPr sz="1200" b="1">
                <a:solidFill>
                  <a:srgbClr val="10B981"/>
                </a:solidFill>
                <a:latin typeface="Segoe UI"/>
              </a:rPr>
              <a:t>•  Edge Coloring &amp; Vizing's Theorem: </a:t>
            </a:r>
            <a:r>
              <a:rPr sz="1150">
                <a:solidFill>
                  <a:srgbClr val="CBD5E1"/>
                </a:solidFill>
                <a:latin typeface="Segoe UI"/>
              </a:rPr>
              <a:t>Delta(G) &lt;= chi'(G) &lt;= Delta(G) + 1. Graph G is Class 1 with Chromatic Index chi'(G) = 7 = Delta(G).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5166360"/>
            <a:ext cx="5486400" cy="77724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50" b="1">
                <a:solidFill>
                  <a:srgbClr val="10B981"/>
                </a:solidFill>
                <a:latin typeface="Segoe UI"/>
              </a:defRPr>
            </a:pPr>
            <a:r>
              <a:t>KEY TAKEAWAY</a:t>
            </a:r>
          </a:p>
          <a:p>
            <a:pPr>
              <a:defRPr sz="1050" b="1">
                <a:solidFill>
                  <a:srgbClr val="F8FAFC"/>
                </a:solidFill>
                <a:latin typeface="Segoe UI"/>
              </a:defRPr>
            </a:pPr>
            <a:r>
              <a:t>The AI Mind has Chromatic Number chi(G)=3 and Chromatic Index chi'(G)=7, achieving optimal conflict-free partitions.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0" y="1463040"/>
            <a:ext cx="4663440" cy="4663440"/>
          </a:xfrm>
          <a:prstGeom prst="roundRect">
            <a:avLst/>
          </a:prstGeom>
          <a:solidFill>
            <a:srgbClr val="161D2F"/>
          </a:solidFill>
          <a:ln w="12700">
            <a:solidFill>
              <a:srgbClr val="2D3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2_deg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600200"/>
            <a:ext cx="4389120" cy="34747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903720" y="5212080"/>
            <a:ext cx="4389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i="1">
                <a:solidFill>
                  <a:srgbClr val="94A3B8"/>
                </a:solidFill>
                <a:latin typeface="Segoe UI"/>
              </a:defRPr>
            </a:pPr>
            <a:r>
              <a:t>Figure 12: Optimal 3-vertex coloring and Vizing Class 1 7-edge coloring on graph 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 conceptual graph model used to demonstrate how Graph Theory can represent relationships between knowledge concepts. It is not how a real AI stores knowledge internally.  |  Slide 12 of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F43F5E"/>
                </a:solidFill>
                <a:latin typeface="Segoe UI"/>
              </a:defRPr>
            </a:pPr>
            <a:r>
              <a:t>TRAVERSABILITY THEORY • TOPOLOGICAL BARRIERS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Segoe UI"/>
              </a:defRPr>
            </a:pPr>
            <a:r>
              <a:t>Eulerian &amp; Hamiltonian Analysis: Impossibility Proofs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778240" y="457200"/>
            <a:ext cx="2651760" cy="594360"/>
          </a:xfrm>
          <a:prstGeom prst="roundRect">
            <a:avLst/>
          </a:prstGeom>
          <a:solidFill>
            <a:srgbClr val="161D2F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43F5E"/>
                </a:solidFill>
                <a:latin typeface="Segoe UI"/>
              </a:defRPr>
            </a:pPr>
            <a:r>
              <a:t>SPEAKER B</a:t>
            </a:r>
          </a:p>
          <a:p>
            <a:pPr algn="ctr">
              <a:defRPr sz="950">
                <a:solidFill>
                  <a:srgbClr val="94A3B8"/>
                </a:solidFill>
                <a:latin typeface="Segoe UI"/>
              </a:defRPr>
            </a:pPr>
            <a:r>
              <a:t>0:45 (Elapsed 10:15)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852160" cy="4663440"/>
          </a:xfrm>
          <a:prstGeom prst="roundRect">
            <a:avLst/>
          </a:prstGeom>
          <a:solidFill>
            <a:srgbClr val="161D2F"/>
          </a:solidFill>
          <a:ln w="12700">
            <a:solidFill>
              <a:srgbClr val="2D3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00200"/>
            <a:ext cx="54864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200" b="1">
                <a:solidFill>
                  <a:srgbClr val="F43F5E"/>
                </a:solidFill>
                <a:latin typeface="Segoe UI"/>
              </a:rPr>
              <a:t>•  Euler's Theorem Condition: </a:t>
            </a:r>
            <a:r>
              <a:rPr sz="1150">
                <a:solidFill>
                  <a:srgbClr val="CBD5E1"/>
                </a:solidFill>
                <a:latin typeface="Segoe UI"/>
              </a:rPr>
              <a:t>A graph has an Eulerian Circuit iff all degrees are even; Eulerian Trail iff 0 or 2 vertices have odd degree.</a:t>
            </a:r>
          </a:p>
          <a:p>
            <a:pPr>
              <a:spcAft>
                <a:spcPts val="1000"/>
              </a:spcAft>
            </a:pPr>
            <a:r>
              <a:rPr sz="1200" b="1">
                <a:solidFill>
                  <a:srgbClr val="F43F5E"/>
                </a:solidFill>
                <a:latin typeface="Segoe UI"/>
              </a:rPr>
              <a:t>•  Eulerian Impossibility Proof: </a:t>
            </a:r>
            <a:r>
              <a:rPr sz="1150">
                <a:solidFill>
                  <a:srgbClr val="CBD5E1"/>
                </a:solidFill>
                <a:latin typeface="Segoe UI"/>
              </a:rPr>
              <a:t>Graph G has exactly 12 odd-degree vertices (data: 7, ml: 5, etc.). Both Eulerian circuit and path are strictly IMPOSSIBLE.</a:t>
            </a:r>
          </a:p>
          <a:p>
            <a:pPr>
              <a:spcAft>
                <a:spcPts val="1000"/>
              </a:spcAft>
            </a:pPr>
            <a:r>
              <a:rPr sz="1200" b="1">
                <a:solidFill>
                  <a:srgbClr val="F43F5E"/>
                </a:solidFill>
                <a:latin typeface="Segoe UI"/>
              </a:rPr>
              <a:t>•  Hamiltonian Dirac Condition Failure: </a:t>
            </a:r>
            <a:r>
              <a:rPr sz="1150">
                <a:solidFill>
                  <a:srgbClr val="CBD5E1"/>
                </a:solidFill>
                <a:latin typeface="Segoe UI"/>
              </a:rPr>
              <a:t>Dirac requires min degree delta(G) &gt;= n/2 = 14. Here delta(G) = 1 (leaf dataset, chessrules, strategy), failing condition.</a:t>
            </a:r>
          </a:p>
          <a:p>
            <a:pPr>
              <a:spcAft>
                <a:spcPts val="1000"/>
              </a:spcAft>
            </a:pPr>
            <a:r>
              <a:rPr sz="1200" b="1">
                <a:solidFill>
                  <a:srgbClr val="F43F5E"/>
                </a:solidFill>
                <a:latin typeface="Segoe UI"/>
              </a:rPr>
              <a:t>•  Cut-Set Non-Hamiltonicity Theorem: </a:t>
            </a:r>
            <a:r>
              <a:rPr sz="1150">
                <a:solidFill>
                  <a:srgbClr val="CBD5E1"/>
                </a:solidFill>
                <a:latin typeface="Segoe UI"/>
              </a:rPr>
              <a:t>A Hamiltonian graph must satisfy c(G - S) &lt;= |S|. Removing S={Data} gives c(G-S) = 3 &gt; |S|=1. Contradiction rules out any Hamiltonian cycle.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5166360"/>
            <a:ext cx="5486400" cy="77724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50" b="1">
                <a:solidFill>
                  <a:srgbClr val="F43F5E"/>
                </a:solidFill>
                <a:latin typeface="Segoe UI"/>
              </a:defRPr>
            </a:pPr>
            <a:r>
              <a:t>KEY TAKEAWAY</a:t>
            </a:r>
          </a:p>
          <a:p>
            <a:pPr>
              <a:defRPr sz="1050" b="1">
                <a:solidFill>
                  <a:srgbClr val="F8FAFC"/>
                </a:solidFill>
                <a:latin typeface="Segoe UI"/>
              </a:defRPr>
            </a:pPr>
            <a:r>
              <a:t>Formal discrete math proves that knowledge traversal cannot traverse all edges or vertices without backtracking.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0" y="1463040"/>
            <a:ext cx="4663440" cy="4663440"/>
          </a:xfrm>
          <a:prstGeom prst="roundRect">
            <a:avLst/>
          </a:prstGeom>
          <a:solidFill>
            <a:srgbClr val="161D2F"/>
          </a:solidFill>
          <a:ln w="12700">
            <a:solidFill>
              <a:srgbClr val="2D3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6_component_remove_d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600200"/>
            <a:ext cx="4389120" cy="34747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903720" y="5212080"/>
            <a:ext cx="4389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i="1">
                <a:solidFill>
                  <a:srgbClr val="94A3B8"/>
                </a:solidFill>
                <a:latin typeface="Segoe UI"/>
              </a:defRPr>
            </a:pPr>
            <a:r>
              <a:t>Figure 13: Topological barriers: 12 odd-degree vertices and Cut-Set violation proving non-Hamiltonicity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 conceptual graph model used to demonstrate how Graph Theory can represent relationships between knowledge concepts. It is not how a real AI stores knowledge internally.  |  Slide 13 of 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F43F5E"/>
                </a:solidFill>
                <a:latin typeface="Segoe UI"/>
              </a:defRPr>
            </a:pPr>
            <a:r>
              <a:t>PLANAR TOPOLOGY &amp; SURFACES • EULER'S FORMULA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Segoe UI"/>
              </a:defRPr>
            </a:pPr>
            <a:r>
              <a:t>Planar Graphs, Regions &amp; Euler's Formula: V - E + R = 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778240" y="457200"/>
            <a:ext cx="2651760" cy="594360"/>
          </a:xfrm>
          <a:prstGeom prst="roundRect">
            <a:avLst/>
          </a:prstGeom>
          <a:solidFill>
            <a:srgbClr val="161D2F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43F5E"/>
                </a:solidFill>
                <a:latin typeface="Segoe UI"/>
              </a:defRPr>
            </a:pPr>
            <a:r>
              <a:t>SPEAKER B</a:t>
            </a:r>
          </a:p>
          <a:p>
            <a:pPr algn="ctr">
              <a:defRPr sz="950">
                <a:solidFill>
                  <a:srgbClr val="94A3B8"/>
                </a:solidFill>
                <a:latin typeface="Segoe UI"/>
              </a:defRPr>
            </a:pPr>
            <a:r>
              <a:t>0:45 (Elapsed 11:00)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852160" cy="4663440"/>
          </a:xfrm>
          <a:prstGeom prst="roundRect">
            <a:avLst/>
          </a:prstGeom>
          <a:solidFill>
            <a:srgbClr val="161D2F"/>
          </a:solidFill>
          <a:ln w="12700">
            <a:solidFill>
              <a:srgbClr val="2D3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00200"/>
            <a:ext cx="54864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200" b="1">
                <a:solidFill>
                  <a:srgbClr val="F43F5E"/>
                </a:solidFill>
                <a:latin typeface="Segoe UI"/>
              </a:rPr>
              <a:t>•  Planar Graph Embedding: </a:t>
            </a:r>
            <a:r>
              <a:rPr sz="1150">
                <a:solidFill>
                  <a:srgbClr val="CBD5E1"/>
                </a:solidFill>
                <a:latin typeface="Segoe UI"/>
              </a:rPr>
              <a:t>A planar graph can be drawn in the Euclidean plane without edges intersecting. Current 2D layout has 6 crossings.</a:t>
            </a:r>
          </a:p>
          <a:p>
            <a:pPr>
              <a:spcAft>
                <a:spcPts val="1000"/>
              </a:spcAft>
            </a:pPr>
            <a:r>
              <a:rPr sz="1200" b="1">
                <a:solidFill>
                  <a:srgbClr val="F43F5E"/>
                </a:solidFill>
                <a:latin typeface="Segoe UI"/>
              </a:rPr>
              <a:t>•  Thickness Number theta(G): </a:t>
            </a:r>
            <a:r>
              <a:rPr sz="1150">
                <a:solidFill>
                  <a:srgbClr val="CBD5E1"/>
                </a:solidFill>
                <a:latin typeface="Segoe UI"/>
              </a:rPr>
              <a:t>Thickness theta(G) &lt;= 2, showing G decomposes into at most 2 planar subgraphs.</a:t>
            </a:r>
          </a:p>
          <a:p>
            <a:pPr>
              <a:spcAft>
                <a:spcPts val="1000"/>
              </a:spcAft>
            </a:pPr>
            <a:r>
              <a:rPr sz="1200" b="1">
                <a:solidFill>
                  <a:srgbClr val="F43F5E"/>
                </a:solidFill>
                <a:latin typeface="Segoe UI"/>
              </a:rPr>
              <a:t>•  Euler's Planar Formula: </a:t>
            </a:r>
            <a:r>
              <a:rPr sz="1150">
                <a:solidFill>
                  <a:srgbClr val="CBD5E1"/>
                </a:solidFill>
                <a:latin typeface="Segoe UI"/>
              </a:rPr>
              <a:t>For connected component K1: V - E + R = 2 implies R = 37 - 25 + 2 = 14 regions (13 bounded faces + 1 exterior face).</a:t>
            </a:r>
          </a:p>
          <a:p>
            <a:pPr>
              <a:spcAft>
                <a:spcPts val="1000"/>
              </a:spcAft>
            </a:pPr>
            <a:r>
              <a:rPr sz="1200" b="1">
                <a:solidFill>
                  <a:srgbClr val="F43F5E"/>
                </a:solidFill>
                <a:latin typeface="Segoe UI"/>
              </a:rPr>
              <a:t>•  Planar Handshaking Lemma: </a:t>
            </a:r>
            <a:r>
              <a:rPr sz="1150">
                <a:solidFill>
                  <a:srgbClr val="CBD5E1"/>
                </a:solidFill>
                <a:latin typeface="Segoe UI"/>
              </a:rPr>
              <a:t>Sum of region degrees equals twice the edges: Sum deg(R_i) = 2|E| = 2(37) = 74.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5166360"/>
            <a:ext cx="5486400" cy="77724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50" b="1">
                <a:solidFill>
                  <a:srgbClr val="F43F5E"/>
                </a:solidFill>
                <a:latin typeface="Segoe UI"/>
              </a:defRPr>
            </a:pPr>
            <a:r>
              <a:t>KEY TAKEAWAY</a:t>
            </a:r>
          </a:p>
          <a:p>
            <a:pPr>
              <a:defRPr sz="1050" b="1">
                <a:solidFill>
                  <a:srgbClr val="F8FAFC"/>
                </a:solidFill>
                <a:latin typeface="Segoe UI"/>
              </a:defRPr>
            </a:pPr>
            <a:r>
              <a:t>Euler's planar formula V - E + R = 2 rigorously partitions the connected AI Mind into exactly 14 geometric regions.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0" y="1463040"/>
            <a:ext cx="4663440" cy="4663440"/>
          </a:xfrm>
          <a:prstGeom prst="roundRect">
            <a:avLst/>
          </a:prstGeom>
          <a:solidFill>
            <a:srgbClr val="161D2F"/>
          </a:solidFill>
          <a:ln w="12700">
            <a:solidFill>
              <a:srgbClr val="2D3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2d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600200"/>
            <a:ext cx="4389120" cy="34747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903720" y="5212080"/>
            <a:ext cx="4389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i="1">
                <a:solidFill>
                  <a:srgbClr val="94A3B8"/>
                </a:solidFill>
                <a:latin typeface="Segoe UI"/>
              </a:defRPr>
            </a:pPr>
            <a:r>
              <a:t>Figure 14: 2D Planar embedding and Region Degree Handshaking verification (14 regions, Sum deg = 74)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 conceptual graph model used to demonstrate how Graph Theory can represent relationships between knowledge concepts. It is not how a real AI stores knowledge internally.  |  Slide 14 of 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F43F5E"/>
                </a:solidFill>
                <a:latin typeface="Segoe UI"/>
              </a:defRPr>
            </a:pPr>
            <a:r>
              <a:t>DISCRETE TRAVERSAL TAXONOMY • SEQUENCE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Segoe UI"/>
              </a:defRPr>
            </a:pPr>
            <a:r>
              <a:t>Taxonomy of Traversals: Walk vs. Trail vs. Path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778240" y="457200"/>
            <a:ext cx="2651760" cy="594360"/>
          </a:xfrm>
          <a:prstGeom prst="roundRect">
            <a:avLst/>
          </a:prstGeom>
          <a:solidFill>
            <a:srgbClr val="161D2F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43F5E"/>
                </a:solidFill>
                <a:latin typeface="Segoe UI"/>
              </a:defRPr>
            </a:pPr>
            <a:r>
              <a:t>SPEAKER B</a:t>
            </a:r>
          </a:p>
          <a:p>
            <a:pPr algn="ctr">
              <a:defRPr sz="950">
                <a:solidFill>
                  <a:srgbClr val="94A3B8"/>
                </a:solidFill>
                <a:latin typeface="Segoe UI"/>
              </a:defRPr>
            </a:pPr>
            <a:r>
              <a:t>0:45 (Elapsed 11:45)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852160" cy="4663440"/>
          </a:xfrm>
          <a:prstGeom prst="roundRect">
            <a:avLst/>
          </a:prstGeom>
          <a:solidFill>
            <a:srgbClr val="161D2F"/>
          </a:solidFill>
          <a:ln w="12700">
            <a:solidFill>
              <a:srgbClr val="2D3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00200"/>
            <a:ext cx="54864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200" b="1">
                <a:solidFill>
                  <a:srgbClr val="F43F5E"/>
                </a:solidFill>
                <a:latin typeface="Segoe UI"/>
              </a:rPr>
              <a:t>•  Walk (General): </a:t>
            </a:r>
            <a:r>
              <a:rPr sz="1150">
                <a:solidFill>
                  <a:srgbClr val="CBD5E1"/>
                </a:solidFill>
                <a:latin typeface="Segoe UI"/>
              </a:rPr>
              <a:t>Any alternating sequence of vertices and edges v0, e1, v1... ek, vk. Vertices and edges may repeat arbitrarily.</a:t>
            </a:r>
          </a:p>
          <a:p>
            <a:pPr>
              <a:spcAft>
                <a:spcPts val="1000"/>
              </a:spcAft>
            </a:pPr>
            <a:r>
              <a:rPr sz="1200" b="1">
                <a:solidFill>
                  <a:srgbClr val="F43F5E"/>
                </a:solidFill>
                <a:latin typeface="Segoe UI"/>
              </a:rPr>
              <a:t>•  Trail (Distinct Edges): </a:t>
            </a:r>
            <a:r>
              <a:rPr sz="1150">
                <a:solidFill>
                  <a:srgbClr val="CBD5E1"/>
                </a:solidFill>
                <a:latin typeface="Segoe UI"/>
              </a:rPr>
              <a:t>A walk where all edges are distinct; vertices may repeat (e.g. loops passing twice through central hub Data).</a:t>
            </a:r>
          </a:p>
          <a:p>
            <a:pPr>
              <a:spcAft>
                <a:spcPts val="1000"/>
              </a:spcAft>
            </a:pPr>
            <a:r>
              <a:rPr sz="1200" b="1">
                <a:solidFill>
                  <a:srgbClr val="F43F5E"/>
                </a:solidFill>
                <a:latin typeface="Segoe UI"/>
              </a:rPr>
              <a:t>•  Path (Distinct Vertices): </a:t>
            </a:r>
            <a:r>
              <a:rPr sz="1150">
                <a:solidFill>
                  <a:srgbClr val="CBD5E1"/>
                </a:solidFill>
                <a:latin typeface="Segoe UI"/>
              </a:rPr>
              <a:t>A walk where all vertices are distinct (and hence all edges are distinct). Represents pure forward inference.</a:t>
            </a:r>
          </a:p>
          <a:p>
            <a:pPr>
              <a:spcAft>
                <a:spcPts val="1000"/>
              </a:spcAft>
            </a:pPr>
            <a:r>
              <a:rPr sz="1200" b="1">
                <a:solidFill>
                  <a:srgbClr val="F43F5E"/>
                </a:solidFill>
                <a:latin typeface="Segoe UI"/>
              </a:rPr>
              <a:t>•  Closed Traversals: </a:t>
            </a:r>
            <a:r>
              <a:rPr sz="1150">
                <a:solidFill>
                  <a:srgbClr val="CBD5E1"/>
                </a:solidFill>
                <a:latin typeface="Segoe UI"/>
              </a:rPr>
              <a:t>Closed Walk (start=end) ⊃ Circuit (closed trail, distinct edges) ⊃ Cycle (closed path of length &gt;= 3).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5166360"/>
            <a:ext cx="5486400" cy="77724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50" b="1">
                <a:solidFill>
                  <a:srgbClr val="F43F5E"/>
                </a:solidFill>
                <a:latin typeface="Segoe UI"/>
              </a:defRPr>
            </a:pPr>
            <a:r>
              <a:t>KEY TAKEAWAY</a:t>
            </a:r>
          </a:p>
          <a:p>
            <a:pPr>
              <a:defRPr sz="1050" b="1">
                <a:solidFill>
                  <a:srgbClr val="F8FAFC"/>
                </a:solidFill>
                <a:latin typeface="Segoe UI"/>
              </a:defRPr>
            </a:pPr>
            <a:r>
              <a:t>Every cognitive operation in the AI Mind maps strictly to a Walk, Trail, Path, Circuit, or Cycle.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0" y="1463040"/>
            <a:ext cx="4663440" cy="4663440"/>
          </a:xfrm>
          <a:prstGeom prst="roundRect">
            <a:avLst/>
          </a:prstGeom>
          <a:solidFill>
            <a:srgbClr val="161D2F"/>
          </a:solidFill>
          <a:ln w="12700">
            <a:solidFill>
              <a:srgbClr val="2D3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4_cycle_c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600200"/>
            <a:ext cx="4389120" cy="34747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903720" y="5212080"/>
            <a:ext cx="4389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i="1">
                <a:solidFill>
                  <a:srgbClr val="94A3B8"/>
                </a:solidFill>
                <a:latin typeface="Segoe UI"/>
              </a:defRPr>
            </a:pPr>
            <a:r>
              <a:t>Figure 15: Sequence classifier taxonomy distinguishing walks, trails, paths, circuits, and cycles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 conceptual graph model used to demonstrate how Graph Theory can represent relationships between knowledge concepts. It is not how a real AI stores knowledge internally.  |  Slide 15 of 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F59E0B"/>
                </a:solidFill>
                <a:latin typeface="Segoe UI"/>
              </a:defRPr>
            </a:pPr>
            <a:r>
              <a:t>CONCLUSION &amp; VIVA VOCE EXAMINATION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Segoe UI"/>
              </a:defRPr>
            </a:pPr>
            <a:r>
              <a:t>Summary, Interactive System &amp; Viva Q&amp;A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778240" y="457200"/>
            <a:ext cx="2651760" cy="594360"/>
          </a:xfrm>
          <a:prstGeom prst="roundRect">
            <a:avLst/>
          </a:prstGeom>
          <a:solidFill>
            <a:srgbClr val="161D2F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59E0B"/>
                </a:solidFill>
                <a:latin typeface="Segoe UI"/>
              </a:defRPr>
            </a:pPr>
            <a:r>
              <a:t>SPEAKER A &amp; B</a:t>
            </a:r>
          </a:p>
          <a:p>
            <a:pPr algn="ctr">
              <a:defRPr sz="950">
                <a:solidFill>
                  <a:srgbClr val="94A3B8"/>
                </a:solidFill>
                <a:latin typeface="Segoe UI"/>
              </a:defRPr>
            </a:pPr>
            <a:r>
              <a:t>1:00 (Total 12:45)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852160" cy="4663440"/>
          </a:xfrm>
          <a:prstGeom prst="roundRect">
            <a:avLst/>
          </a:prstGeom>
          <a:solidFill>
            <a:srgbClr val="161D2F"/>
          </a:solidFill>
          <a:ln w="12700">
            <a:solidFill>
              <a:srgbClr val="2D3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00200"/>
            <a:ext cx="54864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200" b="1">
                <a:solidFill>
                  <a:srgbClr val="F59E0B"/>
                </a:solidFill>
                <a:latin typeface="Segoe UI"/>
              </a:rPr>
              <a:t>•  Summary of Verified Metrics: </a:t>
            </a:r>
            <a:r>
              <a:rPr sz="1150">
                <a:solidFill>
                  <a:srgbClr val="CBD5E1"/>
                </a:solidFill>
                <a:latin typeface="Segoe UI"/>
              </a:rPr>
              <a:t>|V|=28, |E|=39, Components c=2, Handshaking Σdeg=78, Max Hub: Data (7), Cut Vertex: Data, Bridge: E18.</a:t>
            </a:r>
          </a:p>
          <a:p>
            <a:pPr>
              <a:spcAft>
                <a:spcPts val="1000"/>
              </a:spcAft>
            </a:pPr>
            <a:r>
              <a:rPr sz="1200" b="1">
                <a:solidFill>
                  <a:srgbClr val="F59E0B"/>
                </a:solidFill>
                <a:latin typeface="Segoe UI"/>
              </a:rPr>
              <a:t>•  Advanced Discrete Math: </a:t>
            </a:r>
            <a:r>
              <a:rPr sz="1150">
                <a:solidFill>
                  <a:srgbClr val="CBD5E1"/>
                </a:solidFill>
                <a:latin typeface="Segoe UI"/>
              </a:rPr>
              <a:t>Dijkstra relaxation, Floyd-Warshall (Diam 5, Rad 3), χ(G)=3, χ'(G)=7, 12 odd nodes (Euler impossible), Cut-set (Hamilton impossible), Planar R=14, Σdeg(R)=74.</a:t>
            </a:r>
          </a:p>
          <a:p>
            <a:pPr>
              <a:spcAft>
                <a:spcPts val="1000"/>
              </a:spcAft>
            </a:pPr>
            <a:r>
              <a:rPr sz="1200" b="1">
                <a:solidFill>
                  <a:srgbClr val="F59E0B"/>
                </a:solidFill>
                <a:latin typeface="Segoe UI"/>
              </a:rPr>
              <a:t>•  Examiner Rapid Demo Ready: </a:t>
            </a:r>
            <a:r>
              <a:rPr sz="1150">
                <a:solidFill>
                  <a:srgbClr val="CBD5E1"/>
                </a:solidFill>
                <a:latin typeface="Segoe UI"/>
              </a:rPr>
              <a:t>Examiner mode preloaded with one-click viva demonstrations for instant proof of all 47 assertions.</a:t>
            </a:r>
          </a:p>
          <a:p>
            <a:pPr>
              <a:spcAft>
                <a:spcPts val="1000"/>
              </a:spcAft>
            </a:pPr>
            <a:r>
              <a:rPr sz="1200" b="1">
                <a:solidFill>
                  <a:srgbClr val="F59E0B"/>
                </a:solidFill>
                <a:latin typeface="Segoe UI"/>
              </a:rPr>
              <a:t>•  Thank You! </a:t>
            </a:r>
            <a:r>
              <a:rPr sz="1150">
                <a:solidFill>
                  <a:srgbClr val="CBD5E1"/>
                </a:solidFill>
                <a:latin typeface="Segoe UI"/>
              </a:rPr>
              <a:t>We welcome questions from the examiners and faculty on any aspect of the graph topology!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5166360"/>
            <a:ext cx="5486400" cy="77724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50" b="1">
                <a:solidFill>
                  <a:srgbClr val="F59E0B"/>
                </a:solidFill>
                <a:latin typeface="Segoe UI"/>
              </a:defRPr>
            </a:pPr>
            <a:r>
              <a:t>KEY TAKEAWAY</a:t>
            </a:r>
          </a:p>
          <a:p>
            <a:pPr>
              <a:defRPr sz="1050" b="1">
                <a:solidFill>
                  <a:srgbClr val="F8FAFC"/>
                </a:solidFill>
                <a:latin typeface="Segoe UI"/>
              </a:defRPr>
            </a:pPr>
            <a:r>
              <a:t>All 47 discrete mathematics assertions verified 100%. Live interactive demo ready for examination.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0" y="1463040"/>
            <a:ext cx="4663440" cy="4663440"/>
          </a:xfrm>
          <a:prstGeom prst="roundRect">
            <a:avLst/>
          </a:prstGeom>
          <a:solidFill>
            <a:srgbClr val="161D2F"/>
          </a:solidFill>
          <a:ln w="12700">
            <a:solidFill>
              <a:srgbClr val="2D3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resentation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600200"/>
            <a:ext cx="4389120" cy="34747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903720" y="5212080"/>
            <a:ext cx="4389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i="1">
                <a:solidFill>
                  <a:srgbClr val="94A3B8"/>
                </a:solidFill>
                <a:latin typeface="Segoe UI"/>
              </a:defRPr>
            </a:pPr>
            <a:r>
              <a:t>Figure 16: Slide-driven interactive presentation HUD with synchronized live graph animations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 conceptual graph model used to demonstrate how Graph Theory can represent relationships between knowledge concepts. It is not how a real AI stores knowledge internally.  |  Slide 16 of 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